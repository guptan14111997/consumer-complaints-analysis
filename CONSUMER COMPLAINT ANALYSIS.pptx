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5" r:id="rId4"/>
    <p:sldId id="259" r:id="rId5"/>
    <p:sldId id="258" r:id="rId6"/>
    <p:sldId id="267" r:id="rId7"/>
    <p:sldId id="271" r:id="rId8"/>
    <p:sldId id="272" r:id="rId9"/>
    <p:sldId id="273" r:id="rId10"/>
    <p:sldId id="270" r:id="rId11"/>
    <p:sldId id="269"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5"/>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0" Type="http://schemas.openxmlformats.org/officeDocument/2006/relationships/tags" Target="../tags/tag67.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Ellipse 36-2083&amp;10099"/>
          <p:cNvSpPr/>
          <p:nvPr>
            <p:custDataLst>
              <p:tags r:id="rId2"/>
            </p:custDataLst>
          </p:nvPr>
        </p:nvSpPr>
        <p:spPr>
          <a:xfrm>
            <a:off x="0" y="2377440"/>
            <a:ext cx="5193792" cy="4480560"/>
          </a:xfrm>
          <a:custGeom>
            <a:avLst/>
            <a:gdLst/>
            <a:ahLst/>
            <a:cxnLst/>
            <a:rect l="l" t="t" r="r" b="b"/>
            <a:pathLst>
              <a:path w="5193792" h="4480560">
                <a:moveTo>
                  <a:pt x="4828032" y="4480560"/>
                </a:moveTo>
                <a:lnTo>
                  <a:pt x="0" y="4480560"/>
                </a:lnTo>
                <a:lnTo>
                  <a:pt x="0" y="896112"/>
                </a:lnTo>
                <a:cubicBezTo>
                  <a:pt x="548640" y="338328"/>
                  <a:pt x="1307592" y="0"/>
                  <a:pt x="2148840" y="0"/>
                </a:cubicBezTo>
                <a:cubicBezTo>
                  <a:pt x="3831336" y="0"/>
                  <a:pt x="5193792" y="1362456"/>
                  <a:pt x="5193792" y="3044952"/>
                </a:cubicBezTo>
                <a:cubicBezTo>
                  <a:pt x="5193792" y="3566160"/>
                  <a:pt x="5065776" y="4050792"/>
                  <a:pt x="4828032" y="4480560"/>
                </a:cubicBezTo>
              </a:path>
            </a:pathLst>
          </a:custGeom>
          <a:solidFill>
            <a:schemeClr val="tx2">
              <a:alpha val="5000"/>
            </a:schemeClr>
          </a:solidFill>
        </p:spPr>
        <p:txBody>
          <a:bodyPr/>
          <a:lstStyle/>
          <a:p>
            <a:endParaRPr lang="zh-CN" altLang="en-US"/>
          </a:p>
        </p:txBody>
      </p:sp>
      <p:sp>
        <p:nvSpPr>
          <p:cNvPr id="8" name="Ellipse 37 (Stroke)_#color-2083&amp;10102"/>
          <p:cNvSpPr/>
          <p:nvPr>
            <p:custDataLst>
              <p:tags r:id="rId3"/>
            </p:custDataLst>
          </p:nvPr>
        </p:nvSpPr>
        <p:spPr>
          <a:xfrm>
            <a:off x="0" y="0"/>
            <a:ext cx="2505456" cy="3108960"/>
          </a:xfrm>
          <a:custGeom>
            <a:avLst/>
            <a:gdLst/>
            <a:ahLst/>
            <a:cxnLst/>
            <a:rect l="l" t="t" r="r" b="b"/>
            <a:pathLst>
              <a:path w="2505456" h="3108960">
                <a:moveTo>
                  <a:pt x="0" y="2505456"/>
                </a:moveTo>
                <a:cubicBezTo>
                  <a:pt x="100584" y="2523744"/>
                  <a:pt x="201168" y="2532888"/>
                  <a:pt x="301752" y="2532888"/>
                </a:cubicBezTo>
                <a:cubicBezTo>
                  <a:pt x="1207008" y="2532888"/>
                  <a:pt x="1938528" y="1801368"/>
                  <a:pt x="1938528" y="905256"/>
                </a:cubicBezTo>
                <a:cubicBezTo>
                  <a:pt x="1938528" y="566928"/>
                  <a:pt x="1837944" y="256032"/>
                  <a:pt x="1664208" y="0"/>
                </a:cubicBezTo>
                <a:lnTo>
                  <a:pt x="2313432" y="0"/>
                </a:lnTo>
                <a:cubicBezTo>
                  <a:pt x="2441448" y="274320"/>
                  <a:pt x="2505456" y="576072"/>
                  <a:pt x="2505456" y="905256"/>
                </a:cubicBezTo>
                <a:cubicBezTo>
                  <a:pt x="2505456" y="2121408"/>
                  <a:pt x="1517904" y="3108960"/>
                  <a:pt x="301752" y="3108960"/>
                </a:cubicBezTo>
                <a:cubicBezTo>
                  <a:pt x="201168" y="3108960"/>
                  <a:pt x="100584" y="3099816"/>
                  <a:pt x="0" y="3081528"/>
                </a:cubicBezTo>
                <a:lnTo>
                  <a:pt x="0" y="2505456"/>
                </a:lnTo>
              </a:path>
            </a:pathLst>
          </a:custGeom>
          <a:solidFill>
            <a:schemeClr val="accent1"/>
          </a:solidFill>
        </p:spPr>
      </p:sp>
      <p:sp>
        <p:nvSpPr>
          <p:cNvPr id="9" name="Ellipse 38_#color-2082&amp;9905"/>
          <p:cNvSpPr/>
          <p:nvPr>
            <p:custDataLst>
              <p:tags r:id="rId4"/>
            </p:custDataLst>
          </p:nvPr>
        </p:nvSpPr>
        <p:spPr>
          <a:xfrm>
            <a:off x="9464040" y="4379976"/>
            <a:ext cx="1609344" cy="1609344"/>
          </a:xfrm>
          <a:prstGeom prst="ellipse">
            <a:avLst/>
          </a:prstGeom>
          <a:solidFill>
            <a:schemeClr val="accent1"/>
          </a:solidFill>
        </p:spPr>
      </p:sp>
      <p:sp>
        <p:nvSpPr>
          <p:cNvPr id="11" name="Ellipse 39-2082&amp;9906"/>
          <p:cNvSpPr/>
          <p:nvPr>
            <p:custDataLst>
              <p:tags r:id="rId5"/>
            </p:custDataLst>
          </p:nvPr>
        </p:nvSpPr>
        <p:spPr>
          <a:xfrm>
            <a:off x="11338560" y="3617849"/>
            <a:ext cx="530352" cy="530352"/>
          </a:xfrm>
          <a:prstGeom prst="ellipse">
            <a:avLst/>
          </a:prstGeom>
          <a:solidFill>
            <a:schemeClr val="tx2">
              <a:alpha val="43000"/>
            </a:schemeClr>
          </a:solidFill>
        </p:spPr>
      </p:sp>
      <p:sp>
        <p:nvSpPr>
          <p:cNvPr id="2" name="标题 1"/>
          <p:cNvSpPr>
            <a:spLocks noGrp="1"/>
          </p:cNvSpPr>
          <p:nvPr>
            <p:ph type="ctrTitle" hasCustomPrompt="1"/>
            <p:custDataLst>
              <p:tags r:id="rId6"/>
            </p:custDataLst>
          </p:nvPr>
        </p:nvSpPr>
        <p:spPr>
          <a:xfrm>
            <a:off x="1870709" y="1862454"/>
            <a:ext cx="9467850" cy="2628901"/>
          </a:xfrm>
        </p:spPr>
        <p:txBody>
          <a:bodyPr wrap="square" anchor="b" anchorCtr="0">
            <a:normAutofit/>
          </a:bodyPr>
          <a:lstStyle>
            <a:lvl1pPr algn="l">
              <a:lnSpc>
                <a:spcPct val="100000"/>
              </a:lnSpc>
              <a:defRPr sz="58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5" name="页脚占位符 4"/>
          <p:cNvSpPr>
            <a:spLocks noGrp="1"/>
          </p:cNvSpPr>
          <p:nvPr>
            <p:ph type="ftr" sz="quarter" idx="11"/>
            <p:custDataLst>
              <p:tags r:id="rId8"/>
            </p:custDataLst>
          </p:nvPr>
        </p:nvSpPr>
        <p:spPr/>
        <p:txBody>
          <a:bodyPr>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dirty="0"/>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0"/>
            </p:custDataLst>
          </p:nvPr>
        </p:nvSpPr>
        <p:spPr>
          <a:xfrm>
            <a:off x="1870709" y="4790127"/>
            <a:ext cx="7492365" cy="1177603"/>
          </a:xfrm>
        </p:spPr>
        <p:txBody>
          <a:bodyPr wrap="square" anchor="t">
            <a:normAutofit/>
          </a:bodyPr>
          <a:lstStyle>
            <a:lvl1pPr marL="0" indent="0" algn="l">
              <a:lnSpc>
                <a:spcPct val="100000"/>
              </a:lnSpc>
              <a:buNone/>
              <a:defRPr sz="2400">
                <a:latin typeface="+mn-lt"/>
                <a:sym typeface="Arial" panose="020B060402020209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7" name="日期占位符 3"/>
          <p:cNvSpPr>
            <a:spLocks noGrp="1"/>
          </p:cNvSpPr>
          <p:nvPr>
            <p:ph type="dt" sz="half" idx="10"/>
            <p:custDataLst>
              <p:tags r:id="rId2"/>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8" name="页脚占位符 4"/>
          <p:cNvSpPr>
            <a:spLocks noGrp="1"/>
          </p:cNvSpPr>
          <p:nvPr>
            <p:ph type="ftr" sz="quarter" idx="11"/>
            <p:custDataLst>
              <p:tags r:id="rId3"/>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9" name="灯片编号占位符 5"/>
          <p:cNvSpPr>
            <a:spLocks noGrp="1"/>
          </p:cNvSpPr>
          <p:nvPr>
            <p:ph type="sldNum" sz="quarter" idx="12"/>
            <p:custDataLst>
              <p:tags r:id="rId4"/>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
        <p:nvSpPr>
          <p:cNvPr id="4" name="Ellipse 36-2082&amp;9912"/>
          <p:cNvSpPr/>
          <p:nvPr>
            <p:custDataLst>
              <p:tags r:id="rId5"/>
            </p:custDataLst>
          </p:nvPr>
        </p:nvSpPr>
        <p:spPr>
          <a:xfrm>
            <a:off x="6976872" y="1005840"/>
            <a:ext cx="4343400" cy="4343400"/>
          </a:xfrm>
          <a:prstGeom prst="ellipse">
            <a:avLst/>
          </a:prstGeom>
          <a:solidFill>
            <a:schemeClr val="tx2">
              <a:alpha val="5000"/>
            </a:schemeClr>
          </a:solidFill>
        </p:spPr>
        <p:txBody>
          <a:bodyPr/>
          <a:lstStyle/>
          <a:p>
            <a:endParaRPr lang="en-US" dirty="0">
              <a:latin typeface="Arial" panose="020B0604020202090204" pitchFamily="34" charset="0"/>
              <a:cs typeface="Arial" panose="020B0604020202090204" pitchFamily="34" charset="0"/>
              <a:sym typeface="Arial" panose="020B0604020202090204" pitchFamily="34" charset="0"/>
            </a:endParaRPr>
          </a:p>
        </p:txBody>
      </p:sp>
      <p:sp>
        <p:nvSpPr>
          <p:cNvPr id="5" name="Ellipse 37 (Stroke)_#color-2083&amp;10105"/>
          <p:cNvSpPr/>
          <p:nvPr>
            <p:custDataLst>
              <p:tags r:id="rId6"/>
            </p:custDataLst>
          </p:nvPr>
        </p:nvSpPr>
        <p:spPr>
          <a:xfrm>
            <a:off x="7159752" y="0"/>
            <a:ext cx="3977640" cy="2258568"/>
          </a:xfrm>
          <a:custGeom>
            <a:avLst/>
            <a:gdLst/>
            <a:ahLst/>
            <a:cxnLst/>
            <a:rect l="l" t="t" r="r" b="b"/>
            <a:pathLst>
              <a:path w="3977640" h="2258568">
                <a:moveTo>
                  <a:pt x="594360" y="0"/>
                </a:moveTo>
                <a:cubicBezTo>
                  <a:pt x="576072" y="82296"/>
                  <a:pt x="576072" y="173736"/>
                  <a:pt x="576072" y="265176"/>
                </a:cubicBezTo>
                <a:cubicBezTo>
                  <a:pt x="576072" y="1051560"/>
                  <a:pt x="1207008" y="1682496"/>
                  <a:pt x="1984248" y="1682496"/>
                </a:cubicBezTo>
                <a:cubicBezTo>
                  <a:pt x="2770632" y="1682496"/>
                  <a:pt x="3401568" y="1051560"/>
                  <a:pt x="3401568" y="265176"/>
                </a:cubicBezTo>
                <a:cubicBezTo>
                  <a:pt x="3401568" y="173736"/>
                  <a:pt x="3392424" y="82296"/>
                  <a:pt x="3374136" y="0"/>
                </a:cubicBezTo>
                <a:lnTo>
                  <a:pt x="3959352" y="0"/>
                </a:lnTo>
                <a:cubicBezTo>
                  <a:pt x="3968496" y="91440"/>
                  <a:pt x="3977640" y="173736"/>
                  <a:pt x="3977640" y="265176"/>
                </a:cubicBezTo>
                <a:cubicBezTo>
                  <a:pt x="3977640" y="1362456"/>
                  <a:pt x="3081528" y="2258568"/>
                  <a:pt x="1984248" y="2258568"/>
                </a:cubicBezTo>
                <a:cubicBezTo>
                  <a:pt x="886968" y="2258568"/>
                  <a:pt x="0" y="1362456"/>
                  <a:pt x="0" y="265176"/>
                </a:cubicBezTo>
                <a:cubicBezTo>
                  <a:pt x="0" y="173736"/>
                  <a:pt x="9144" y="91440"/>
                  <a:pt x="18288" y="0"/>
                </a:cubicBezTo>
                <a:lnTo>
                  <a:pt x="594360" y="0"/>
                </a:lnTo>
              </a:path>
            </a:pathLst>
          </a:custGeom>
          <a:solidFill>
            <a:schemeClr val="accent1"/>
          </a:solidFill>
        </p:spPr>
      </p:sp>
      <p:sp>
        <p:nvSpPr>
          <p:cNvPr id="2" name="标题 1"/>
          <p:cNvSpPr>
            <a:spLocks noGrp="1"/>
          </p:cNvSpPr>
          <p:nvPr>
            <p:ph type="title" hasCustomPrompt="1"/>
            <p:custDataLst>
              <p:tags r:id="rId7"/>
            </p:custDataLst>
          </p:nvPr>
        </p:nvSpPr>
        <p:spPr>
          <a:xfrm>
            <a:off x="7709207" y="2637205"/>
            <a:ext cx="2880000" cy="1081088"/>
          </a:xfrm>
        </p:spPr>
        <p:txBody>
          <a:bodyPr wrap="square" anchor="b">
            <a:normAutofit/>
          </a:bodyPr>
          <a:lstStyle>
            <a:lvl1pPr algn="ctr">
              <a:defRPr sz="4300">
                <a:latin typeface="+mj-lt"/>
              </a:defRPr>
            </a:lvl1pPr>
          </a:lstStyle>
          <a:p>
            <a:r>
              <a:rPr lang="en-US" dirty="0">
                <a:latin typeface="+mj-lt"/>
              </a:rPr>
              <a:t>Click to add title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Ellipse 36_#color-2083&amp;10108"/>
          <p:cNvSpPr/>
          <p:nvPr>
            <p:custDataLst>
              <p:tags r:id="rId2"/>
            </p:custDataLst>
          </p:nvPr>
        </p:nvSpPr>
        <p:spPr>
          <a:xfrm>
            <a:off x="0" y="566928"/>
            <a:ext cx="5422392" cy="6291072"/>
          </a:xfrm>
          <a:custGeom>
            <a:avLst/>
            <a:gdLst/>
            <a:ahLst/>
            <a:cxnLst/>
            <a:rect l="l" t="t" r="r" b="b"/>
            <a:pathLst>
              <a:path w="5422392" h="6291072">
                <a:moveTo>
                  <a:pt x="4425696" y="6291072"/>
                </a:moveTo>
                <a:lnTo>
                  <a:pt x="0" y="6291072"/>
                </a:lnTo>
                <a:lnTo>
                  <a:pt x="0" y="393192"/>
                </a:lnTo>
                <a:cubicBezTo>
                  <a:pt x="502920" y="137160"/>
                  <a:pt x="1069848" y="0"/>
                  <a:pt x="1673352" y="0"/>
                </a:cubicBezTo>
                <a:cubicBezTo>
                  <a:pt x="3739896" y="0"/>
                  <a:pt x="5422392" y="1673352"/>
                  <a:pt x="5422392" y="3749040"/>
                </a:cubicBezTo>
                <a:cubicBezTo>
                  <a:pt x="5422392" y="4727448"/>
                  <a:pt x="5047488" y="5614416"/>
                  <a:pt x="4425696" y="6291072"/>
                </a:cubicBezTo>
              </a:path>
            </a:pathLst>
          </a:custGeom>
          <a:solidFill>
            <a:schemeClr val="accent1"/>
          </a:solidFill>
        </p:spPr>
      </p:sp>
      <p:sp>
        <p:nvSpPr>
          <p:cNvPr id="9" name="Ellipse 38_#color_#strokes-2083&amp;10111"/>
          <p:cNvSpPr/>
          <p:nvPr>
            <p:custDataLst>
              <p:tags r:id="rId3"/>
            </p:custDataLst>
          </p:nvPr>
        </p:nvSpPr>
        <p:spPr>
          <a:xfrm>
            <a:off x="11314176" y="1463040"/>
            <a:ext cx="877824" cy="1399032"/>
          </a:xfrm>
          <a:custGeom>
            <a:avLst/>
            <a:gdLst/>
            <a:ahLst/>
            <a:cxnLst/>
            <a:rect l="l" t="t" r="r" b="b"/>
            <a:pathLst>
              <a:path w="877824" h="1399032">
                <a:moveTo>
                  <a:pt x="877824" y="18288"/>
                </a:moveTo>
                <a:lnTo>
                  <a:pt x="877824" y="1371600"/>
                </a:lnTo>
                <a:cubicBezTo>
                  <a:pt x="822960" y="1389888"/>
                  <a:pt x="758952" y="1399032"/>
                  <a:pt x="694944" y="1399032"/>
                </a:cubicBezTo>
                <a:cubicBezTo>
                  <a:pt x="310896" y="1399032"/>
                  <a:pt x="0" y="1088136"/>
                  <a:pt x="0" y="694944"/>
                </a:cubicBezTo>
                <a:cubicBezTo>
                  <a:pt x="0" y="310896"/>
                  <a:pt x="310896" y="0"/>
                  <a:pt x="694944" y="0"/>
                </a:cubicBezTo>
                <a:cubicBezTo>
                  <a:pt x="758952" y="0"/>
                  <a:pt x="822960" y="9144"/>
                  <a:pt x="877824" y="18288"/>
                </a:cubicBezTo>
              </a:path>
            </a:pathLst>
          </a:custGeom>
          <a:solidFill>
            <a:schemeClr val="accent1"/>
          </a:solidFill>
        </p:spPr>
      </p:sp>
      <p:sp>
        <p:nvSpPr>
          <p:cNvPr id="10" name="Ellipse 39_#color_#strokes-2082&amp;9935"/>
          <p:cNvSpPr/>
          <p:nvPr>
            <p:custDataLst>
              <p:tags r:id="rId4"/>
            </p:custDataLst>
          </p:nvPr>
        </p:nvSpPr>
        <p:spPr>
          <a:xfrm>
            <a:off x="10131552" y="301752"/>
            <a:ext cx="530352" cy="530352"/>
          </a:xfrm>
          <a:prstGeom prst="ellipse">
            <a:avLst/>
          </a:prstGeom>
          <a:solidFill>
            <a:schemeClr val="tx2">
              <a:alpha val="43000"/>
            </a:schemeClr>
          </a:solidFill>
        </p:spPr>
      </p:sp>
      <p:sp>
        <p:nvSpPr>
          <p:cNvPr id="2" name="标题 1"/>
          <p:cNvSpPr>
            <a:spLocks noGrp="1"/>
          </p:cNvSpPr>
          <p:nvPr>
            <p:ph type="title" hasCustomPrompt="1"/>
            <p:custDataLst>
              <p:tags r:id="rId5"/>
            </p:custDataLst>
          </p:nvPr>
        </p:nvSpPr>
        <p:spPr>
          <a:xfrm>
            <a:off x="5850890" y="1621790"/>
            <a:ext cx="5464175" cy="2789555"/>
          </a:xfrm>
        </p:spPr>
        <p:txBody>
          <a:bodyPr wrap="square" anchor="ctr" anchorCtr="0">
            <a:normAutofit/>
          </a:bodyPr>
          <a:lstStyle>
            <a:lvl1pPr algn="l">
              <a:defRPr sz="4800">
                <a:latin typeface="+mj-lt"/>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6"/>
            </p:custDataLst>
          </p:nvPr>
        </p:nvSpPr>
        <p:spPr>
          <a:xfrm>
            <a:off x="1130518" y="665438"/>
            <a:ext cx="4402908" cy="4700971"/>
          </a:xfrm>
        </p:spPr>
        <p:txBody>
          <a:bodyPr wrap="none" anchor="ctr">
            <a:normAutofit/>
          </a:bodyPr>
          <a:lstStyle>
            <a:lvl1pPr marL="0" indent="0" algn="ctr">
              <a:buNone/>
              <a:defRPr sz="15300" b="1">
                <a:solidFill>
                  <a:srgbClr val="FFFFFF"/>
                </a:solidFill>
                <a:latin typeface="+mn-lt"/>
                <a:sym typeface="Arial" panose="020B0604020202090204" pitchFamily="34" charset="0"/>
              </a:defRPr>
            </a:lvl1pPr>
          </a:lstStyle>
          <a:p>
            <a:pPr lvl="0"/>
            <a:r>
              <a:rPr lang="en-US" dirty="0">
                <a:latin typeface="+mn-lt"/>
              </a:rPr>
              <a:t>text</a:t>
            </a:r>
            <a:endParaRPr lang="en-US" dirty="0"/>
          </a:p>
        </p:txBody>
      </p:sp>
      <p:sp>
        <p:nvSpPr>
          <p:cNvPr id="4" name="日期占位符 4"/>
          <p:cNvSpPr>
            <a:spLocks noGrp="1"/>
          </p:cNvSpPr>
          <p:nvPr>
            <p:ph type="dt" sz="half" idx="10"/>
            <p:custDataLst>
              <p:tags r:id="rId7"/>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5" name="页脚占位符 5"/>
          <p:cNvSpPr>
            <a:spLocks noGrp="1"/>
          </p:cNvSpPr>
          <p:nvPr>
            <p:ph type="ftr" sz="quarter" idx="11"/>
            <p:custDataLst>
              <p:tags r:id="rId8"/>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6" name="灯片编号占位符 6"/>
          <p:cNvSpPr>
            <a:spLocks noGrp="1"/>
          </p:cNvSpPr>
          <p:nvPr>
            <p:ph type="sldNum" sz="quarter" idx="12"/>
            <p:custDataLst>
              <p:tags r:id="rId9"/>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b">
            <a:normAutofit/>
          </a:bodyPr>
          <a:lstStyle>
            <a:lvl1pPr>
              <a:defRPr lang="en-US" dirty="0">
                <a:latin typeface="+mj-lt"/>
                <a:sym typeface="Arial" panose="020B060402020209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4800" y="1364400"/>
            <a:ext cx="5181600" cy="48132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313200" y="1364400"/>
            <a:ext cx="5181600" cy="48132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4800" y="360000"/>
            <a:ext cx="10800000" cy="720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4800" y="1364400"/>
            <a:ext cx="5157787" cy="540000"/>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4800" y="2061275"/>
            <a:ext cx="5157787" cy="4128388"/>
          </a:xfrm>
        </p:spPr>
        <p:txBody>
          <a:bodyPr wrap="square">
            <a:normAutofit/>
          </a:bodyPr>
          <a:lstStyle>
            <a:lvl1pPr>
              <a:defRPr sz="2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311612" y="1364400"/>
            <a:ext cx="5183188" cy="540000"/>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311612" y="2061275"/>
            <a:ext cx="5183188" cy="4128388"/>
          </a:xfrm>
        </p:spPr>
        <p:txBody>
          <a:bodyPr wrap="square">
            <a:normAutofit/>
          </a:bodyPr>
          <a:lstStyle>
            <a:lvl1pPr>
              <a:defRPr sz="2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838200" y="360000"/>
            <a:ext cx="10515600" cy="58176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4800" y="360000"/>
            <a:ext cx="10800000" cy="720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4800" y="1296000"/>
            <a:ext cx="10800000" cy="576000"/>
          </a:xfrm>
        </p:spPr>
        <p:txBody>
          <a:bodyPr wrap="square" anchor="t">
            <a:normAutofit/>
          </a:bodyPr>
          <a:lstStyle>
            <a:lvl1pPr marL="0" indent="0">
              <a:buNone/>
              <a:defRPr sz="2400" b="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7" name="Ellipse 36-2083&amp;10120"/>
          <p:cNvSpPr/>
          <p:nvPr>
            <p:custDataLst>
              <p:tags r:id="rId2"/>
            </p:custDataLst>
          </p:nvPr>
        </p:nvSpPr>
        <p:spPr>
          <a:xfrm>
            <a:off x="0" y="2679192"/>
            <a:ext cx="5056632" cy="4178808"/>
          </a:xfrm>
          <a:custGeom>
            <a:avLst/>
            <a:gdLst/>
            <a:ahLst/>
            <a:cxnLst/>
            <a:rect l="l" t="t" r="r" b="b"/>
            <a:pathLst>
              <a:path w="5056632" h="4178808">
                <a:moveTo>
                  <a:pt x="4837176" y="4178808"/>
                </a:moveTo>
                <a:lnTo>
                  <a:pt x="0" y="4178808"/>
                </a:lnTo>
                <a:lnTo>
                  <a:pt x="0" y="758952"/>
                </a:lnTo>
                <a:cubicBezTo>
                  <a:pt x="539496" y="283464"/>
                  <a:pt x="1243584" y="0"/>
                  <a:pt x="2011680" y="0"/>
                </a:cubicBezTo>
                <a:cubicBezTo>
                  <a:pt x="3694176" y="0"/>
                  <a:pt x="5056632" y="1362456"/>
                  <a:pt x="5056632" y="3044952"/>
                </a:cubicBezTo>
                <a:cubicBezTo>
                  <a:pt x="5056632" y="3447288"/>
                  <a:pt x="4974336" y="3831336"/>
                  <a:pt x="4837176" y="4178808"/>
                </a:cubicBezTo>
              </a:path>
            </a:pathLst>
          </a:custGeom>
          <a:solidFill>
            <a:schemeClr val="tx2">
              <a:alpha val="5000"/>
            </a:schemeClr>
          </a:solidFill>
        </p:spPr>
      </p:sp>
      <p:sp>
        <p:nvSpPr>
          <p:cNvPr id="8" name="Ellipse 38_#color_#strokes-2082&amp;9949"/>
          <p:cNvSpPr/>
          <p:nvPr>
            <p:custDataLst>
              <p:tags r:id="rId3"/>
            </p:custDataLst>
          </p:nvPr>
        </p:nvSpPr>
        <p:spPr>
          <a:xfrm>
            <a:off x="9537192" y="1152144"/>
            <a:ext cx="1298448" cy="1298448"/>
          </a:xfrm>
          <a:prstGeom prst="ellipse">
            <a:avLst/>
          </a:prstGeom>
          <a:solidFill>
            <a:schemeClr val="tx2">
              <a:alpha val="43000"/>
            </a:schemeClr>
          </a:solidFill>
        </p:spPr>
      </p:sp>
      <p:sp>
        <p:nvSpPr>
          <p:cNvPr id="9" name="Ellipse 37 (Stroke)_#color-2083&amp;10123"/>
          <p:cNvSpPr/>
          <p:nvPr>
            <p:custDataLst>
              <p:tags r:id="rId4"/>
            </p:custDataLst>
          </p:nvPr>
        </p:nvSpPr>
        <p:spPr>
          <a:xfrm>
            <a:off x="0" y="0"/>
            <a:ext cx="2368296" cy="3410712"/>
          </a:xfrm>
          <a:custGeom>
            <a:avLst/>
            <a:gdLst/>
            <a:ahLst/>
            <a:cxnLst/>
            <a:rect l="l" t="t" r="r" b="b"/>
            <a:pathLst>
              <a:path w="2368296" h="3410712">
                <a:moveTo>
                  <a:pt x="0" y="2834640"/>
                </a:moveTo>
                <a:cubicBezTo>
                  <a:pt x="54864" y="2834640"/>
                  <a:pt x="109728" y="2834640"/>
                  <a:pt x="164592" y="2834640"/>
                </a:cubicBezTo>
                <a:cubicBezTo>
                  <a:pt x="1069848" y="2834640"/>
                  <a:pt x="1801368" y="2112264"/>
                  <a:pt x="1801368" y="1207008"/>
                </a:cubicBezTo>
                <a:cubicBezTo>
                  <a:pt x="1801368" y="731520"/>
                  <a:pt x="1591056" y="301752"/>
                  <a:pt x="1261872" y="0"/>
                </a:cubicBezTo>
                <a:lnTo>
                  <a:pt x="2011680" y="0"/>
                </a:lnTo>
                <a:cubicBezTo>
                  <a:pt x="2240280" y="347472"/>
                  <a:pt x="2368296" y="758952"/>
                  <a:pt x="2368296" y="1207008"/>
                </a:cubicBezTo>
                <a:cubicBezTo>
                  <a:pt x="2368296" y="2423160"/>
                  <a:pt x="1380744" y="3410712"/>
                  <a:pt x="164592" y="3410712"/>
                </a:cubicBezTo>
                <a:cubicBezTo>
                  <a:pt x="109728" y="3410712"/>
                  <a:pt x="54864" y="3410712"/>
                  <a:pt x="0" y="3401568"/>
                </a:cubicBezTo>
                <a:lnTo>
                  <a:pt x="0" y="2834640"/>
                </a:lnTo>
              </a:path>
            </a:pathLst>
          </a:custGeom>
          <a:solidFill>
            <a:schemeClr val="accent1"/>
          </a:solidFill>
        </p:spPr>
      </p:sp>
      <p:sp>
        <p:nvSpPr>
          <p:cNvPr id="11" name="Ellipse 40_#color_#strokes-2082&amp;9950"/>
          <p:cNvSpPr/>
          <p:nvPr>
            <p:custDataLst>
              <p:tags r:id="rId5"/>
            </p:custDataLst>
          </p:nvPr>
        </p:nvSpPr>
        <p:spPr>
          <a:xfrm>
            <a:off x="10899648" y="3429000"/>
            <a:ext cx="530352" cy="530352"/>
          </a:xfrm>
          <a:prstGeom prst="ellipse">
            <a:avLst/>
          </a:prstGeom>
          <a:solidFill>
            <a:schemeClr val="accent1"/>
          </a:solidFill>
        </p:spPr>
      </p:sp>
      <p:sp>
        <p:nvSpPr>
          <p:cNvPr id="2" name="标题 1"/>
          <p:cNvSpPr>
            <a:spLocks noGrp="1"/>
          </p:cNvSpPr>
          <p:nvPr>
            <p:ph type="ctrTitle" hasCustomPrompt="1"/>
            <p:custDataLst>
              <p:tags r:id="rId6"/>
            </p:custDataLst>
          </p:nvPr>
        </p:nvSpPr>
        <p:spPr>
          <a:xfrm>
            <a:off x="1841500" y="555752"/>
            <a:ext cx="10096500" cy="3249648"/>
          </a:xfrm>
        </p:spPr>
        <p:txBody>
          <a:bodyPr wrap="square" anchor="b">
            <a:normAutofit/>
          </a:bodyPr>
          <a:lstStyle>
            <a:lvl1pPr algn="l">
              <a:lnSpc>
                <a:spcPct val="100000"/>
              </a:lnSpc>
              <a:defRPr sz="58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5" name="页脚占位符 4"/>
          <p:cNvSpPr>
            <a:spLocks noGrp="1"/>
          </p:cNvSpPr>
          <p:nvPr>
            <p:ph type="ftr" sz="quarter" idx="11"/>
            <p:custDataLst>
              <p:tags r:id="rId8"/>
            </p:custDataLst>
          </p:nvPr>
        </p:nvSpPr>
        <p:spPr/>
        <p:txBody>
          <a:bodyPr/>
          <a:lstStyle>
            <a:lvl1pPr>
              <a:defRPr>
                <a:latin typeface="Arial" panose="020B0604020202090204" pitchFamily="34" charset="0"/>
                <a:cs typeface="Arial" panose="020B0604020202090204" pitchFamily="34" charset="0"/>
                <a:sym typeface="Arial" panose="020B0604020202090204" pitchFamily="34" charset="0"/>
              </a:defRPr>
            </a:lvl1pPr>
          </a:lstStyle>
          <a:p>
            <a:endParaRPr 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lvl1pPr>
              <a:defRPr>
                <a:latin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0"/>
            </p:custDataLst>
          </p:nvPr>
        </p:nvSpPr>
        <p:spPr>
          <a:xfrm>
            <a:off x="1841500" y="4217290"/>
            <a:ext cx="10096500" cy="1931921"/>
          </a:xfrm>
        </p:spPr>
        <p:txBody>
          <a:bodyPr wrap="square" anchor="t">
            <a:normAutofit/>
          </a:bodyPr>
          <a:lstStyle>
            <a:lvl1pPr marL="0" indent="0" algn="l">
              <a:lnSpc>
                <a:spcPct val="100000"/>
              </a:lnSpc>
              <a:buNone/>
              <a:defRPr sz="2400">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75.xml"/><Relationship Id="rId2" Type="http://schemas.openxmlformats.org/officeDocument/2006/relationships/slideLayout" Target="../slideLayouts/slideLayout2.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Ellipse 37 (Stroke)_#color-2083&amp;10114"/>
          <p:cNvSpPr/>
          <p:nvPr>
            <p:custDataLst>
              <p:tags r:id="rId13"/>
            </p:custDataLst>
          </p:nvPr>
        </p:nvSpPr>
        <p:spPr>
          <a:xfrm>
            <a:off x="10497312" y="0"/>
            <a:ext cx="1691640" cy="1591056"/>
          </a:xfrm>
          <a:custGeom>
            <a:avLst/>
            <a:gdLst/>
            <a:ahLst/>
            <a:cxnLst/>
            <a:rect l="l" t="t" r="r" b="b"/>
            <a:pathLst>
              <a:path w="1691640" h="1591056">
                <a:moveTo>
                  <a:pt x="402336" y="0"/>
                </a:moveTo>
                <a:cubicBezTo>
                  <a:pt x="374904" y="82296"/>
                  <a:pt x="365760" y="164592"/>
                  <a:pt x="365760" y="246888"/>
                </a:cubicBezTo>
                <a:cubicBezTo>
                  <a:pt x="365760" y="786384"/>
                  <a:pt x="804672" y="1225296"/>
                  <a:pt x="1344168" y="1225296"/>
                </a:cubicBezTo>
                <a:cubicBezTo>
                  <a:pt x="1472184" y="1225296"/>
                  <a:pt x="1591056" y="1207008"/>
                  <a:pt x="1691640" y="1161288"/>
                </a:cubicBezTo>
                <a:lnTo>
                  <a:pt x="1691640" y="1545336"/>
                </a:lnTo>
                <a:cubicBezTo>
                  <a:pt x="1581912" y="1581912"/>
                  <a:pt x="1463040" y="1591056"/>
                  <a:pt x="1344168" y="1591056"/>
                </a:cubicBezTo>
                <a:cubicBezTo>
                  <a:pt x="603504" y="1591056"/>
                  <a:pt x="0" y="987552"/>
                  <a:pt x="0" y="246888"/>
                </a:cubicBezTo>
                <a:cubicBezTo>
                  <a:pt x="0" y="164592"/>
                  <a:pt x="9144" y="82296"/>
                  <a:pt x="18288" y="0"/>
                </a:cubicBezTo>
                <a:lnTo>
                  <a:pt x="402336" y="0"/>
                </a:lnTo>
              </a:path>
            </a:pathLst>
          </a:custGeom>
          <a:solidFill>
            <a:schemeClr val="accent1"/>
          </a:solidFill>
        </p:spPr>
      </p:sp>
      <p:sp>
        <p:nvSpPr>
          <p:cNvPr id="13" name="Ellipse 36-2083&amp;10117"/>
          <p:cNvSpPr/>
          <p:nvPr>
            <p:custDataLst>
              <p:tags r:id="rId14"/>
            </p:custDataLst>
          </p:nvPr>
        </p:nvSpPr>
        <p:spPr>
          <a:xfrm>
            <a:off x="905256" y="5687568"/>
            <a:ext cx="2715768" cy="1170432"/>
          </a:xfrm>
          <a:custGeom>
            <a:avLst/>
            <a:gdLst/>
            <a:ahLst/>
            <a:cxnLst/>
            <a:rect l="l" t="t" r="r" b="b"/>
            <a:pathLst>
              <a:path w="2715768" h="1170432">
                <a:moveTo>
                  <a:pt x="2715768" y="1170432"/>
                </a:moveTo>
                <a:lnTo>
                  <a:pt x="0" y="1170432"/>
                </a:lnTo>
                <a:cubicBezTo>
                  <a:pt x="100584" y="502920"/>
                  <a:pt x="667512" y="0"/>
                  <a:pt x="1353312" y="0"/>
                </a:cubicBezTo>
                <a:cubicBezTo>
                  <a:pt x="2048256" y="0"/>
                  <a:pt x="2615184" y="502920"/>
                  <a:pt x="2715768" y="1170432"/>
                </a:cubicBezTo>
              </a:path>
            </a:pathLst>
          </a:custGeom>
          <a:solidFill>
            <a:schemeClr val="tx2">
              <a:alpha val="5000"/>
            </a:schemeClr>
          </a:solidFill>
        </p:spPr>
      </p:sp>
      <p:sp>
        <p:nvSpPr>
          <p:cNvPr id="2" name="标题占位符 1"/>
          <p:cNvSpPr>
            <a:spLocks noGrp="1"/>
          </p:cNvSpPr>
          <p:nvPr>
            <p:ph type="title"/>
            <p:custDataLst>
              <p:tags r:id="rId15"/>
            </p:custDataLst>
          </p:nvPr>
        </p:nvSpPr>
        <p:spPr>
          <a:xfrm>
            <a:off x="69480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6"/>
            </p:custDataLst>
          </p:nvPr>
        </p:nvSpPr>
        <p:spPr>
          <a:xfrm>
            <a:off x="694800" y="1364400"/>
            <a:ext cx="10800000" cy="4813200"/>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7"/>
            </p:custDataLst>
          </p:nvPr>
        </p:nvSpPr>
        <p:spPr>
          <a:xfrm>
            <a:off x="6948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stStyle>
          <a:p>
            <a:r>
              <a:rPr lang="en-US"/>
              <a:t>Date Area</a:t>
            </a:r>
            <a:endParaRPr 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stStyle>
          <a:p>
            <a:endParaRPr lang="en-US" dirty="0"/>
          </a:p>
        </p:txBody>
      </p:sp>
      <p:sp>
        <p:nvSpPr>
          <p:cNvPr id="6" name="灯片编号占位符 5"/>
          <p:cNvSpPr>
            <a:spLocks noGrp="1"/>
          </p:cNvSpPr>
          <p:nvPr>
            <p:ph type="sldNum" sz="quarter" idx="4"/>
            <p:custDataLst>
              <p:tags r:id="rId19"/>
            </p:custDataLst>
          </p:nvPr>
        </p:nvSpPr>
        <p:spPr>
          <a:xfrm>
            <a:off x="875160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stStyle>
          <a:p>
            <a:fld id="{BE5F26B5-172A-4DC2-B0B7-181CFC56B87C}" type="slidenum">
              <a:rPr lang="en-US" smtClean="0"/>
            </a:fld>
            <a:endParaRPr lang="en-US"/>
          </a:p>
        </p:txBody>
      </p:sp>
      <p:sp>
        <p:nvSpPr>
          <p:cNvPr id="8" name="KSO_TEMPLATE" hidden="1"/>
          <p:cNvSpPr/>
          <p:nvPr>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600" b="1" kern="120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3" Type="http://schemas.openxmlformats.org/officeDocument/2006/relationships/slideLayout" Target="../slideLayouts/slideLayout3.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ctrTitle"/>
            <p:custDataLst>
              <p:tags r:id="rId1"/>
            </p:custDataLst>
          </p:nvPr>
        </p:nvSpPr>
        <p:spPr/>
        <p:txBody>
          <a:bodyPr/>
          <a:lstStyle/>
          <a:p>
            <a:r>
              <a:rPr lang="en-US" altLang="en-US" b="0">
                <a:latin typeface="Arial Regular" panose="020B0604020202090204" charset="0"/>
                <a:ea typeface="+mj-ea"/>
                <a:cs typeface="Arial Regular" panose="020B0604020202090204" charset="0"/>
              </a:rPr>
              <a:t>CONSUMER COMPLAINT ANALYSIS</a:t>
            </a:r>
            <a:endParaRPr lang="en-US" altLang="en-US" b="0">
              <a:latin typeface="Arial Regular" panose="020B0604020202090204" charset="0"/>
              <a:ea typeface="+mj-ea"/>
              <a:cs typeface="Arial Regular" panose="020B0604020202090204" charset="0"/>
            </a:endParaRPr>
          </a:p>
        </p:txBody>
      </p:sp>
      <p:sp>
        <p:nvSpPr>
          <p:cNvPr id="3" name="署名"/>
          <p:cNvSpPr>
            <a:spLocks noGrp="1"/>
          </p:cNvSpPr>
          <p:nvPr>
            <p:ph type="body" sz="quarter" idx="17"/>
            <p:custDataLst>
              <p:tags r:id="rId2"/>
            </p:custDataLst>
          </p:nvPr>
        </p:nvSpPr>
        <p:spPr/>
        <p:txBody>
          <a:bodyPr/>
          <a:lstStyle/>
          <a:p>
            <a:r>
              <a:rPr lang="en-US" altLang="en-US">
                <a:latin typeface="Arial Regular" panose="020B0604020202090204" charset="0"/>
                <a:ea typeface="+mn-ea"/>
                <a:cs typeface="Arial Regular" panose="020B0604020202090204" charset="0"/>
              </a:rPr>
              <a:t>Analysis of consumer complaints to understand major issues, complaint trends, and resolution performance.</a:t>
            </a:r>
            <a:endParaRPr lang="en-US" altLang="en-US">
              <a:latin typeface="Arial Regular" panose="020B0604020202090204" charset="0"/>
              <a:ea typeface="+mn-ea"/>
              <a:cs typeface="Arial Regular" panose="020B060402020209020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normAutofit fontScale="90000"/>
          </a:bodyPr>
          <a:p>
            <a:r>
              <a:rPr lang="en-US" altLang="en-US" sz="2220" b="0">
                <a:latin typeface="Arial Regular" panose="020B0604020202090204" charset="0"/>
                <a:cs typeface="Arial Regular" panose="020B0604020202090204" charset="0"/>
              </a:rPr>
              <a:t>This project analyzes consumer complaint data to understand complaint volumes, resolution performance, customer disputes, and complaint trends over time. The analysis identifies companies, products, issues, and states with high complaint volumes, while also examining resolution times and year-over-year changes. Using Excel for data preparation and Power BI for analysis and visualization, the project provides business insights to help the customer support team prioritize major complaint areas, allocate resources effectively, and improve overall operational performance. </a:t>
            </a:r>
            <a:endParaRPr lang="en-US" altLang="en-US" sz="2220" b="0">
              <a:latin typeface="Arial Regular" panose="020B0604020202090204" charset="0"/>
              <a:cs typeface="Arial Regular" panose="020B0604020202090204" charset="0"/>
            </a:endParaRPr>
          </a:p>
        </p:txBody>
      </p:sp>
      <p:sp>
        <p:nvSpPr>
          <p:cNvPr id="5" name="Text Placeholder 4"/>
          <p:cNvSpPr>
            <a:spLocks noGrp="1"/>
          </p:cNvSpPr>
          <p:nvPr>
            <p:ph type="body" sz="quarter" idx="13"/>
            <p:custDataLst>
              <p:tags r:id="rId2"/>
            </p:custDataLst>
          </p:nvPr>
        </p:nvSpPr>
        <p:spPr>
          <a:xfrm>
            <a:off x="130810" y="665480"/>
            <a:ext cx="4971415" cy="4700905"/>
          </a:xfrm>
        </p:spPr>
        <p:txBody>
          <a:bodyPr/>
          <a:p>
            <a:pPr algn="ctr"/>
            <a:r>
              <a:rPr lang="en-US" altLang="en-US" sz="3900" b="0">
                <a:latin typeface="Arial Regular" panose="020B0604020202090204" charset="0"/>
                <a:cs typeface="Arial Regular" panose="020B0604020202090204" charset="0"/>
              </a:rPr>
              <a:t>PROJECT OVERVIEW</a:t>
            </a:r>
            <a:endParaRPr lang="en-US" altLang="en-US" sz="3900" b="0">
              <a:latin typeface="Arial Regular" panose="020B0604020202090204" charset="0"/>
              <a:cs typeface="Arial Regular" panose="020B06040202020902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5850890" y="1621790"/>
            <a:ext cx="5464175" cy="2789555"/>
          </a:xfrm>
        </p:spPr>
        <p:txBody>
          <a:bodyPr>
            <a:noAutofit/>
          </a:bodyPr>
          <a:lstStyle/>
          <a:p>
            <a:r>
              <a:rPr lang="en-US" altLang="en-US" sz="2000" b="0">
                <a:latin typeface="Arial Regular" panose="020B0604020202090204" charset="0"/>
                <a:ea typeface="+mj-ea"/>
                <a:cs typeface="Arial Regular" panose="020B0604020202090204" charset="0"/>
              </a:rPr>
              <a:t>The company lacks clear visibility regarding the number of complaints they are receiving and the number of complaints they are resolving on time. Management doesn't have actual calculations on resolution time, track over monthly trends, or Year-over-Year (YoY) performance graph. Furthermore, the support team operates with limited bandwidth, making it impossible to handle every issue at once. The company needs to analyze the data so the team can identify the companies with the highest number of complaints, pinpoint the most common issues, and determine which high-risk complaints must be taken care of on priority.</a:t>
            </a:r>
            <a:endParaRPr lang="en-US" altLang="en-US" sz="2000" b="0">
              <a:latin typeface="Arial Regular" panose="020B0604020202090204" charset="0"/>
              <a:ea typeface="+mj-ea"/>
              <a:cs typeface="Arial Regular" panose="020B0604020202090204" charset="0"/>
            </a:endParaRPr>
          </a:p>
        </p:txBody>
      </p:sp>
      <p:sp>
        <p:nvSpPr>
          <p:cNvPr id="3" name="节编号"/>
          <p:cNvSpPr>
            <a:spLocks noGrp="1"/>
          </p:cNvSpPr>
          <p:nvPr>
            <p:ph type="body" sz="quarter" idx="13"/>
            <p:custDataLst>
              <p:tags r:id="rId2"/>
            </p:custDataLst>
          </p:nvPr>
        </p:nvSpPr>
        <p:spPr>
          <a:xfrm>
            <a:off x="254635" y="665480"/>
            <a:ext cx="4711065" cy="4700905"/>
          </a:xfrm>
        </p:spPr>
        <p:txBody>
          <a:bodyPr/>
          <a:lstStyle/>
          <a:p>
            <a:pPr algn="ctr"/>
            <a:r>
              <a:rPr lang="en-US" altLang="en-US" sz="3900" b="0">
                <a:latin typeface="Arial Regular" panose="020B0604020202090204" charset="0"/>
                <a:ea typeface="+mn-ea"/>
                <a:cs typeface="Arial Regular" panose="020B0604020202090204" charset="0"/>
              </a:rPr>
              <a:t>BUSINESS PROBLEM</a:t>
            </a:r>
            <a:endParaRPr lang="en-US" altLang="en-US" sz="3900" b="0">
              <a:latin typeface="Arial Regular" panose="020B0604020202090204" charset="0"/>
              <a:ea typeface="+mn-ea"/>
              <a:cs typeface="Arial Regular" panose="020B06040202020902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7708900" y="2637155"/>
            <a:ext cx="3172460" cy="1081405"/>
          </a:xfrm>
        </p:spPr>
        <p:txBody>
          <a:bodyPr>
            <a:normAutofit fontScale="90000"/>
          </a:bodyPr>
          <a:lstStyle/>
          <a:p>
            <a:r>
              <a:rPr lang="en-US" altLang="en-US" b="0">
                <a:latin typeface="Arial Regular" panose="020B0604020202090204" charset="0"/>
                <a:ea typeface="+mj-ea"/>
                <a:cs typeface="Arial Regular" panose="020B0604020202090204" charset="0"/>
              </a:rPr>
              <a:t>OBJECTIVES</a:t>
            </a:r>
            <a:endParaRPr lang="en-US" altLang="en-US" b="0">
              <a:latin typeface="Arial Regular" panose="020B0604020202090204" charset="0"/>
              <a:ea typeface="+mj-ea"/>
              <a:cs typeface="Arial Regular" panose="020B0604020202090204" charset="0"/>
            </a:endParaRPr>
          </a:p>
        </p:txBody>
      </p:sp>
      <p:sp>
        <p:nvSpPr>
          <p:cNvPr id="3" name="序号"/>
          <p:cNvSpPr txBox="1"/>
          <p:nvPr>
            <p:custDataLst>
              <p:tags r:id="rId2"/>
            </p:custDataLst>
          </p:nvPr>
        </p:nvSpPr>
        <p:spPr>
          <a:xfrm>
            <a:off x="1626235" y="805815"/>
            <a:ext cx="812165" cy="504825"/>
          </a:xfrm>
          <a:prstGeom prst="rect">
            <a:avLst/>
          </a:prstGeom>
          <a:noFill/>
        </p:spPr>
        <p:txBody>
          <a:bodyPr wrap="square" lIns="0" tIns="0" rIns="0" bIns="0" rtlCol="0" anchor="b" anchorCtr="0">
            <a:normAutofit fontScale="90000" lnSpcReduction="20000"/>
          </a:bodyPr>
          <a:lstStyle/>
          <a:p>
            <a:pPr algn="ctr">
              <a:lnSpc>
                <a:spcPct val="100000"/>
              </a:lnSpc>
            </a:pPr>
            <a:r>
              <a:rPr lang="en-US" sz="3600" b="1" dirty="0">
                <a:solidFill>
                  <a:schemeClr val="tx1">
                    <a:lumMod val="85000"/>
                    <a:lumOff val="15000"/>
                  </a:schemeClr>
                </a:solidFill>
                <a:latin typeface="+mj-lt"/>
                <a:cs typeface="+mn-lt"/>
              </a:rPr>
              <a:t>01</a:t>
            </a:r>
            <a:endParaRPr lang="en-US" sz="3600" b="1" dirty="0">
              <a:solidFill>
                <a:schemeClr val="tx1">
                  <a:lumMod val="85000"/>
                  <a:lumOff val="15000"/>
                </a:schemeClr>
              </a:solidFill>
              <a:latin typeface="+mj-lt"/>
              <a:cs typeface="+mn-lt"/>
            </a:endParaRPr>
          </a:p>
        </p:txBody>
      </p:sp>
      <p:sp>
        <p:nvSpPr>
          <p:cNvPr id="5" name="项标题"/>
          <p:cNvSpPr txBox="1"/>
          <p:nvPr>
            <p:custDataLst>
              <p:tags r:id="rId3"/>
            </p:custDataLst>
          </p:nvPr>
        </p:nvSpPr>
        <p:spPr>
          <a:xfrm>
            <a:off x="2531745" y="643890"/>
            <a:ext cx="4208780" cy="995680"/>
          </a:xfrm>
          <a:prstGeom prst="rect">
            <a:avLst/>
          </a:prstGeom>
          <a:noFill/>
        </p:spPr>
        <p:txBody>
          <a:bodyPr wrap="square" lIns="0" tIns="0" rIns="0" bIns="0" rtlCol="0" anchor="b">
            <a:normAutofit/>
          </a:bodyPr>
          <a:lstStyle/>
          <a:p>
            <a:pPr>
              <a:lnSpc>
                <a:spcPct val="100000"/>
              </a:lnSpc>
            </a:pPr>
            <a:r>
              <a:rPr lang="en-US" altLang="en-US" sz="1600" dirty="0">
                <a:solidFill>
                  <a:schemeClr val="tx1">
                    <a:lumMod val="85000"/>
                    <a:lumOff val="15000"/>
                  </a:schemeClr>
                </a:solidFill>
                <a:latin typeface="Arial Regular" panose="020B0604020202090204" charset="0"/>
                <a:cs typeface="Arial Regular" panose="020B0604020202090204" charset="0"/>
              </a:rPr>
              <a:t>To calculate complaint resolution times, track average closure delays, and number of complaints resolved on time.</a:t>
            </a:r>
            <a:endParaRPr lang="en-US" sz="1600" dirty="0">
              <a:solidFill>
                <a:schemeClr val="tx1">
                  <a:lumMod val="85000"/>
                  <a:lumOff val="15000"/>
                </a:schemeClr>
              </a:solidFill>
              <a:latin typeface="Arial Regular" panose="020B0604020202090204" charset="0"/>
              <a:cs typeface="Arial Regular" panose="020B0604020202090204" charset="0"/>
            </a:endParaRPr>
          </a:p>
        </p:txBody>
      </p:sp>
      <p:sp>
        <p:nvSpPr>
          <p:cNvPr id="13" name="序号"/>
          <p:cNvSpPr txBox="1"/>
          <p:nvPr>
            <p:custDataLst>
              <p:tags r:id="rId4"/>
            </p:custDataLst>
          </p:nvPr>
        </p:nvSpPr>
        <p:spPr>
          <a:xfrm>
            <a:off x="1626235" y="4220210"/>
            <a:ext cx="812165" cy="699770"/>
          </a:xfrm>
          <a:prstGeom prst="rect">
            <a:avLst/>
          </a:prstGeom>
          <a:noFill/>
        </p:spPr>
        <p:txBody>
          <a:bodyPr wrap="square" lIns="0" tIns="0" rIns="0" bIns="0" rtlCol="0" anchor="b" anchorCtr="0">
            <a:normAutofit/>
          </a:bodyPr>
          <a:lstStyle/>
          <a:p>
            <a:pPr algn="ctr">
              <a:lnSpc>
                <a:spcPct val="100000"/>
              </a:lnSpc>
            </a:pPr>
            <a:r>
              <a:rPr lang="en-US" sz="3600" b="1" dirty="0">
                <a:solidFill>
                  <a:schemeClr val="tx1">
                    <a:lumMod val="85000"/>
                    <a:lumOff val="15000"/>
                  </a:schemeClr>
                </a:solidFill>
                <a:latin typeface="+mj-lt"/>
                <a:cs typeface="+mn-lt"/>
              </a:rPr>
              <a:t>04</a:t>
            </a:r>
            <a:endParaRPr lang="en-US" sz="3600" b="1" dirty="0">
              <a:solidFill>
                <a:schemeClr val="tx1">
                  <a:lumMod val="85000"/>
                  <a:lumOff val="15000"/>
                </a:schemeClr>
              </a:solidFill>
              <a:latin typeface="+mj-lt"/>
              <a:cs typeface="+mn-lt"/>
            </a:endParaRPr>
          </a:p>
        </p:txBody>
      </p:sp>
      <p:sp>
        <p:nvSpPr>
          <p:cNvPr id="8" name="项标题"/>
          <p:cNvSpPr txBox="1"/>
          <p:nvPr>
            <p:custDataLst>
              <p:tags r:id="rId5"/>
            </p:custDataLst>
          </p:nvPr>
        </p:nvSpPr>
        <p:spPr>
          <a:xfrm>
            <a:off x="2531745" y="4325620"/>
            <a:ext cx="4208780" cy="962025"/>
          </a:xfrm>
          <a:prstGeom prst="rect">
            <a:avLst/>
          </a:prstGeom>
          <a:noFill/>
        </p:spPr>
        <p:txBody>
          <a:bodyPr wrap="square" lIns="0" tIns="0" rIns="0" bIns="0" rtlCol="0" anchor="b">
            <a:normAutofit lnSpcReduction="10000"/>
          </a:bodyPr>
          <a:lstStyle/>
          <a:p>
            <a:pPr>
              <a:lnSpc>
                <a:spcPct val="100000"/>
              </a:lnSpc>
            </a:pPr>
            <a:r>
              <a:rPr lang="en-US" altLang="en-US" sz="1600" dirty="0">
                <a:solidFill>
                  <a:schemeClr val="tx1">
                    <a:lumMod val="85000"/>
                    <a:lumOff val="15000"/>
                  </a:schemeClr>
                </a:solidFill>
                <a:latin typeface="Arial Regular" panose="020B0604020202090204" charset="0"/>
                <a:cs typeface="Arial Regular" panose="020B0604020202090204" charset="0"/>
              </a:rPr>
              <a:t>To build a priority scoring framework to help the customer support team identify and handle high-risk complaints first.</a:t>
            </a:r>
            <a:endParaRPr lang="en-US" altLang="en-US" sz="1600" dirty="0">
              <a:solidFill>
                <a:schemeClr val="tx1">
                  <a:lumMod val="85000"/>
                  <a:lumOff val="15000"/>
                </a:schemeClr>
              </a:solidFill>
              <a:latin typeface="Arial Regular" panose="020B0604020202090204" charset="0"/>
              <a:cs typeface="Arial Regular" panose="020B0604020202090204" charset="0"/>
            </a:endParaRPr>
          </a:p>
        </p:txBody>
      </p:sp>
      <p:sp>
        <p:nvSpPr>
          <p:cNvPr id="16" name="序号"/>
          <p:cNvSpPr txBox="1"/>
          <p:nvPr>
            <p:custDataLst>
              <p:tags r:id="rId6"/>
            </p:custDataLst>
          </p:nvPr>
        </p:nvSpPr>
        <p:spPr>
          <a:xfrm>
            <a:off x="1626235" y="1641475"/>
            <a:ext cx="812165" cy="996315"/>
          </a:xfrm>
          <a:prstGeom prst="rect">
            <a:avLst/>
          </a:prstGeom>
          <a:noFill/>
        </p:spPr>
        <p:txBody>
          <a:bodyPr wrap="square" lIns="0" tIns="0" rIns="0" bIns="0" rtlCol="0" anchor="b" anchorCtr="0">
            <a:normAutofit/>
          </a:bodyPr>
          <a:lstStyle/>
          <a:p>
            <a:pPr algn="ctr">
              <a:lnSpc>
                <a:spcPct val="100000"/>
              </a:lnSpc>
            </a:pPr>
            <a:r>
              <a:rPr lang="en-US" sz="3600" b="1" dirty="0">
                <a:solidFill>
                  <a:schemeClr val="tx1">
                    <a:lumMod val="85000"/>
                    <a:lumOff val="15000"/>
                  </a:schemeClr>
                </a:solidFill>
                <a:latin typeface="+mj-lt"/>
                <a:cs typeface="+mn-lt"/>
              </a:rPr>
              <a:t>02</a:t>
            </a:r>
            <a:endParaRPr lang="en-US" sz="3600" b="1" dirty="0">
              <a:solidFill>
                <a:schemeClr val="tx1">
                  <a:lumMod val="85000"/>
                  <a:lumOff val="15000"/>
                </a:schemeClr>
              </a:solidFill>
              <a:latin typeface="+mj-lt"/>
              <a:cs typeface="+mn-lt"/>
            </a:endParaRPr>
          </a:p>
        </p:txBody>
      </p:sp>
      <p:sp>
        <p:nvSpPr>
          <p:cNvPr id="9" name="项标题"/>
          <p:cNvSpPr txBox="1"/>
          <p:nvPr>
            <p:custDataLst>
              <p:tags r:id="rId7"/>
            </p:custDataLst>
          </p:nvPr>
        </p:nvSpPr>
        <p:spPr>
          <a:xfrm>
            <a:off x="2531745" y="1831340"/>
            <a:ext cx="4208780" cy="1081405"/>
          </a:xfrm>
          <a:prstGeom prst="rect">
            <a:avLst/>
          </a:prstGeom>
          <a:noFill/>
        </p:spPr>
        <p:txBody>
          <a:bodyPr wrap="square" lIns="0" tIns="0" rIns="0" bIns="0" rtlCol="0" anchor="b">
            <a:noAutofit/>
          </a:bodyPr>
          <a:lstStyle/>
          <a:p>
            <a:pPr>
              <a:lnSpc>
                <a:spcPct val="100000"/>
              </a:lnSpc>
            </a:pPr>
            <a:r>
              <a:rPr lang="en-US" altLang="en-US" sz="1600" dirty="0">
                <a:solidFill>
                  <a:schemeClr val="tx1">
                    <a:lumMod val="85000"/>
                    <a:lumOff val="15000"/>
                  </a:schemeClr>
                </a:solidFill>
                <a:latin typeface="Arial Regular" panose="020B0604020202090204" charset="0"/>
                <a:cs typeface="Arial Regular" panose="020B0604020202090204" charset="0"/>
              </a:rPr>
              <a:t>To pinpoint the companies with the highest number of complaints, most common issues, and the states with the highest complaint volumes.</a:t>
            </a:r>
            <a:endParaRPr lang="en-US" altLang="en-US" sz="1600" dirty="0">
              <a:solidFill>
                <a:schemeClr val="tx1">
                  <a:lumMod val="85000"/>
                  <a:lumOff val="15000"/>
                </a:schemeClr>
              </a:solidFill>
              <a:latin typeface="Arial Regular" panose="020B0604020202090204" charset="0"/>
              <a:cs typeface="Arial Regular" panose="020B0604020202090204" charset="0"/>
            </a:endParaRPr>
          </a:p>
        </p:txBody>
      </p:sp>
      <p:sp>
        <p:nvSpPr>
          <p:cNvPr id="19" name="序号"/>
          <p:cNvSpPr txBox="1"/>
          <p:nvPr>
            <p:custDataLst>
              <p:tags r:id="rId8"/>
            </p:custDataLst>
          </p:nvPr>
        </p:nvSpPr>
        <p:spPr>
          <a:xfrm>
            <a:off x="1626235" y="2968625"/>
            <a:ext cx="812165" cy="890270"/>
          </a:xfrm>
          <a:prstGeom prst="rect">
            <a:avLst/>
          </a:prstGeom>
          <a:noFill/>
        </p:spPr>
        <p:txBody>
          <a:bodyPr wrap="square" lIns="0" tIns="0" rIns="0" bIns="0" rtlCol="0" anchor="b" anchorCtr="0">
            <a:normAutofit/>
          </a:bodyPr>
          <a:lstStyle/>
          <a:p>
            <a:pPr algn="ctr">
              <a:lnSpc>
                <a:spcPct val="100000"/>
              </a:lnSpc>
            </a:pPr>
            <a:r>
              <a:rPr lang="en-US" sz="3600" b="1" dirty="0">
                <a:solidFill>
                  <a:schemeClr val="tx1">
                    <a:lumMod val="85000"/>
                    <a:lumOff val="15000"/>
                  </a:schemeClr>
                </a:solidFill>
                <a:latin typeface="+mj-lt"/>
                <a:cs typeface="+mn-lt"/>
              </a:rPr>
              <a:t>03</a:t>
            </a:r>
            <a:endParaRPr lang="en-US" sz="3600" b="1" dirty="0">
              <a:solidFill>
                <a:schemeClr val="tx1">
                  <a:lumMod val="85000"/>
                  <a:lumOff val="15000"/>
                </a:schemeClr>
              </a:solidFill>
              <a:latin typeface="+mj-lt"/>
              <a:cs typeface="+mn-lt"/>
            </a:endParaRPr>
          </a:p>
        </p:txBody>
      </p:sp>
      <p:sp>
        <p:nvSpPr>
          <p:cNvPr id="10" name="项标题"/>
          <p:cNvSpPr txBox="1"/>
          <p:nvPr>
            <p:custDataLst>
              <p:tags r:id="rId9"/>
            </p:custDataLst>
          </p:nvPr>
        </p:nvSpPr>
        <p:spPr>
          <a:xfrm>
            <a:off x="2531745" y="3017520"/>
            <a:ext cx="4208780" cy="1129665"/>
          </a:xfrm>
          <a:prstGeom prst="rect">
            <a:avLst/>
          </a:prstGeom>
          <a:noFill/>
        </p:spPr>
        <p:txBody>
          <a:bodyPr wrap="square" lIns="0" tIns="0" rIns="0" bIns="0" rtlCol="0" anchor="b">
            <a:noAutofit/>
          </a:bodyPr>
          <a:lstStyle/>
          <a:p>
            <a:pPr algn="l">
              <a:lnSpc>
                <a:spcPct val="100000"/>
              </a:lnSpc>
              <a:buClrTx/>
              <a:buSzTx/>
              <a:buFontTx/>
            </a:pPr>
            <a:r>
              <a:rPr lang="en-US" altLang="en-US" sz="1600" dirty="0">
                <a:solidFill>
                  <a:schemeClr val="tx1">
                    <a:lumMod val="85000"/>
                    <a:lumOff val="15000"/>
                  </a:schemeClr>
                </a:solidFill>
                <a:latin typeface="Arial Regular" panose="020B0604020202090204" charset="0"/>
                <a:cs typeface="Arial Regular" panose="020B0604020202090204" charset="0"/>
              </a:rPr>
              <a:t>To track monthly volume trends and measure Year-over-Year (YoY) changes in both complaint numbers and average resolution times.</a:t>
            </a:r>
            <a:endParaRPr lang="en-US" altLang="en-US" sz="1600" dirty="0">
              <a:solidFill>
                <a:schemeClr val="tx1">
                  <a:lumMod val="85000"/>
                  <a:lumOff val="15000"/>
                </a:schemeClr>
              </a:solidFill>
              <a:latin typeface="Arial Regular" panose="020B0604020202090204" charset="0"/>
              <a:cs typeface="Arial Regular" panose="020B0604020202090204" charset="0"/>
            </a:endParaRPr>
          </a:p>
        </p:txBody>
      </p:sp>
      <p:sp>
        <p:nvSpPr>
          <p:cNvPr id="11" name="序号"/>
          <p:cNvSpPr txBox="1"/>
          <p:nvPr>
            <p:custDataLst>
              <p:tags r:id="rId10"/>
            </p:custDataLst>
          </p:nvPr>
        </p:nvSpPr>
        <p:spPr>
          <a:xfrm>
            <a:off x="1626235" y="5420995"/>
            <a:ext cx="811530" cy="700405"/>
          </a:xfrm>
          <a:prstGeom prst="rect">
            <a:avLst/>
          </a:prstGeom>
          <a:noFill/>
        </p:spPr>
        <p:txBody>
          <a:bodyPr wrap="square" lIns="0" tIns="0" rIns="0" bIns="0" rtlCol="0" anchor="b" anchorCtr="0">
            <a:normAutofit/>
          </a:bodyPr>
          <a:lstStyle/>
          <a:p>
            <a:pPr algn="ctr">
              <a:lnSpc>
                <a:spcPct val="100000"/>
              </a:lnSpc>
            </a:pPr>
            <a:r>
              <a:rPr lang="en-US" sz="3600" b="1" dirty="0">
                <a:solidFill>
                  <a:schemeClr val="tx1">
                    <a:lumMod val="85000"/>
                    <a:lumOff val="15000"/>
                  </a:schemeClr>
                </a:solidFill>
                <a:latin typeface="+mj-lt"/>
                <a:cs typeface="+mn-lt"/>
              </a:rPr>
              <a:t>05</a:t>
            </a:r>
            <a:endParaRPr lang="en-US" sz="3600" b="1" dirty="0">
              <a:solidFill>
                <a:schemeClr val="tx1">
                  <a:lumMod val="85000"/>
                  <a:lumOff val="15000"/>
                </a:schemeClr>
              </a:solidFill>
              <a:latin typeface="+mj-lt"/>
              <a:cs typeface="+mn-lt"/>
            </a:endParaRPr>
          </a:p>
        </p:txBody>
      </p:sp>
      <p:sp>
        <p:nvSpPr>
          <p:cNvPr id="12" name="项标题"/>
          <p:cNvSpPr txBox="1"/>
          <p:nvPr>
            <p:custDataLst>
              <p:tags r:id="rId11"/>
            </p:custDataLst>
          </p:nvPr>
        </p:nvSpPr>
        <p:spPr>
          <a:xfrm>
            <a:off x="2531745" y="5460365"/>
            <a:ext cx="4208780" cy="889635"/>
          </a:xfrm>
          <a:prstGeom prst="rect">
            <a:avLst/>
          </a:prstGeom>
          <a:noFill/>
        </p:spPr>
        <p:txBody>
          <a:bodyPr wrap="square" lIns="0" tIns="0" rIns="0" bIns="0" rtlCol="0" anchor="b">
            <a:normAutofit/>
          </a:bodyPr>
          <a:lstStyle/>
          <a:p>
            <a:pPr>
              <a:lnSpc>
                <a:spcPct val="100000"/>
              </a:lnSpc>
            </a:pPr>
            <a:r>
              <a:rPr lang="en-US" altLang="en-US" sz="1600" dirty="0">
                <a:solidFill>
                  <a:schemeClr val="tx1">
                    <a:lumMod val="85000"/>
                    <a:lumOff val="15000"/>
                  </a:schemeClr>
                </a:solidFill>
                <a:latin typeface="Arial Regular" panose="020B0604020202090204" charset="0"/>
                <a:cs typeface="Arial Regular" panose="020B0604020202090204" charset="0"/>
              </a:rPr>
              <a:t>To build an interactive dashboard for exploring complaint trends and operational performances.</a:t>
            </a:r>
            <a:endParaRPr lang="en-US" sz="1600" dirty="0">
              <a:solidFill>
                <a:schemeClr val="tx1">
                  <a:lumMod val="85000"/>
                  <a:lumOff val="15000"/>
                </a:schemeClr>
              </a:solidFill>
              <a:latin typeface="Arial Regular" panose="020B0604020202090204" charset="0"/>
              <a:cs typeface="Arial Regular" panose="020B0604020202090204" charset="0"/>
            </a:endParaRPr>
          </a:p>
        </p:txBody>
      </p:sp>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pPr algn="ctr"/>
            <a:r>
              <a:rPr lang="en-US" altLang="en-US" b="0">
                <a:latin typeface="Arial Regular" panose="020B0604020202090204" charset="0"/>
                <a:cs typeface="Arial Regular" panose="020B0604020202090204" charset="0"/>
                <a:sym typeface="+mn-ea"/>
              </a:rPr>
              <a:t>DATASET DESCRIPTION</a:t>
            </a:r>
            <a:endParaRPr lang="en-US"/>
          </a:p>
        </p:txBody>
      </p:sp>
      <p:sp>
        <p:nvSpPr>
          <p:cNvPr id="5" name="Content Placeholder 4"/>
          <p:cNvSpPr>
            <a:spLocks noGrp="1"/>
          </p:cNvSpPr>
          <p:nvPr>
            <p:ph idx="1"/>
            <p:custDataLst>
              <p:tags r:id="rId2"/>
            </p:custDataLst>
          </p:nvPr>
        </p:nvSpPr>
        <p:spPr/>
        <p:txBody>
          <a:bodyPr>
            <a:normAutofit fontScale="50000"/>
          </a:bodyPr>
          <a:p>
            <a:r>
              <a:rPr lang="en-US" altLang="en-US">
                <a:sym typeface="+mn-ea"/>
              </a:rPr>
              <a:t>The dataset contains customer complaint files against various companies. It includes the unique complaint id, the specific issue raised, the target company, the intake channel, date on which issue was raised, date on which issue was resolved.</a:t>
            </a:r>
            <a:endParaRPr lang="en-US" altLang="en-US"/>
          </a:p>
          <a:p>
            <a:r>
              <a:rPr lang="en-US" altLang="en-US">
                <a:sym typeface="+mn-ea"/>
              </a:rPr>
              <a:t>Columns of the dataset were:</a:t>
            </a:r>
            <a:endParaRPr lang="en-US" altLang="en-US"/>
          </a:p>
          <a:p>
            <a:r>
              <a:rPr lang="en-US" altLang="en-US" b="1">
                <a:sym typeface="+mn-ea"/>
              </a:rPr>
              <a:t>Complaint ID</a:t>
            </a:r>
            <a:r>
              <a:rPr lang="en-US" altLang="en-US">
                <a:sym typeface="+mn-ea"/>
              </a:rPr>
              <a:t>: A unique complaint number.</a:t>
            </a:r>
            <a:endParaRPr lang="en-US" altLang="en-US"/>
          </a:p>
          <a:p>
            <a:r>
              <a:rPr lang="en-US" altLang="en-US">
                <a:sym typeface="+mn-ea"/>
              </a:rPr>
              <a:t>Company: The company against which complaint was raised.</a:t>
            </a:r>
            <a:endParaRPr lang="en-US" altLang="en-US"/>
          </a:p>
          <a:p>
            <a:r>
              <a:rPr lang="en-US" altLang="en-US" b="1">
                <a:sym typeface="+mn-ea"/>
              </a:rPr>
              <a:t>Product</a:t>
            </a:r>
            <a:r>
              <a:rPr lang="en-US" altLang="en-US">
                <a:sym typeface="+mn-ea"/>
              </a:rPr>
              <a:t>: Product against which the complaint was raised.</a:t>
            </a:r>
            <a:endParaRPr lang="en-US" altLang="en-US"/>
          </a:p>
          <a:p>
            <a:r>
              <a:rPr lang="en-US" altLang="en-US" b="1">
                <a:sym typeface="+mn-ea"/>
              </a:rPr>
              <a:t>Issue</a:t>
            </a:r>
            <a:r>
              <a:rPr lang="en-US" altLang="en-US">
                <a:sym typeface="+mn-ea"/>
              </a:rPr>
              <a:t>: Issue reported by customer.</a:t>
            </a:r>
            <a:endParaRPr lang="en-US" altLang="en-US"/>
          </a:p>
          <a:p>
            <a:r>
              <a:rPr lang="en-US" altLang="en-US" b="1">
                <a:sym typeface="+mn-ea"/>
              </a:rPr>
              <a:t>State</a:t>
            </a:r>
            <a:r>
              <a:rPr lang="en-US" altLang="en-US">
                <a:sym typeface="+mn-ea"/>
              </a:rPr>
              <a:t>: The two-letter postal code abbreviation of the consumer's US state of residence. The state name was fetched from another worksheet named State_code_name using Xlookup.</a:t>
            </a:r>
            <a:endParaRPr lang="en-US" altLang="en-US"/>
          </a:p>
          <a:p>
            <a:r>
              <a:rPr lang="en-US" altLang="en-US" b="1">
                <a:sym typeface="+mn-ea"/>
              </a:rPr>
              <a:t>Submitted via</a:t>
            </a:r>
            <a:r>
              <a:rPr lang="en-US" altLang="en-US">
                <a:sym typeface="+mn-ea"/>
              </a:rPr>
              <a:t>: Channel through which the issue was raised; web, email or phone.</a:t>
            </a:r>
            <a:endParaRPr lang="en-US" altLang="en-US"/>
          </a:p>
          <a:p>
            <a:r>
              <a:rPr lang="en-US" altLang="en-US" b="1">
                <a:sym typeface="+mn-ea"/>
              </a:rPr>
              <a:t>Date received</a:t>
            </a:r>
            <a:r>
              <a:rPr lang="en-US" altLang="en-US">
                <a:sym typeface="+mn-ea"/>
              </a:rPr>
              <a:t>: The date on which complaint was logged.</a:t>
            </a:r>
            <a:endParaRPr lang="en-US" altLang="en-US"/>
          </a:p>
          <a:p>
            <a:r>
              <a:rPr lang="en-US" altLang="en-US" b="1">
                <a:sym typeface="+mn-ea"/>
              </a:rPr>
              <a:t>Date resolved</a:t>
            </a:r>
            <a:r>
              <a:rPr lang="en-US" altLang="en-US">
                <a:sym typeface="+mn-ea"/>
              </a:rPr>
              <a:t>: The date on which issue was resolved or case was closed.</a:t>
            </a:r>
            <a:endParaRPr lang="en-US" altLang="en-US"/>
          </a:p>
          <a:p>
            <a:r>
              <a:rPr lang="en-US" altLang="en-US" b="1">
                <a:sym typeface="+mn-ea"/>
              </a:rPr>
              <a:t>Timely resolution</a:t>
            </a:r>
            <a:r>
              <a:rPr lang="en-US" altLang="en-US">
                <a:sym typeface="+mn-ea"/>
              </a:rPr>
              <a:t>: (Yes/No) Indicate whether the issue was resolved within the mandatory timeframe or not.</a:t>
            </a:r>
            <a:endParaRPr lang="en-US" altLang="en-US"/>
          </a:p>
          <a:p>
            <a:r>
              <a:rPr lang="en-US" altLang="en-US" b="1">
                <a:sym typeface="+mn-ea"/>
              </a:rPr>
              <a:t>Consumer Disputed</a:t>
            </a:r>
            <a:r>
              <a:rPr lang="en-US" altLang="en-US">
                <a:sym typeface="+mn-ea"/>
              </a:rPr>
              <a:t>: (Yes/No) Tracks whether the customers disputed after the resolution was provided.</a:t>
            </a:r>
            <a:endParaRPr lang="en-US"/>
          </a:p>
          <a:p>
            <a:endParaRPr 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normAutofit fontScale="90000"/>
          </a:bodyPr>
          <a:p>
            <a:pPr algn="ctr"/>
            <a:br>
              <a:rPr lang="en-US" altLang="en-US" b="0">
                <a:latin typeface="Arial Regular" panose="020B0604020202090204" charset="0"/>
                <a:cs typeface="Arial Regular" panose="020B0604020202090204" charset="0"/>
              </a:rPr>
            </a:br>
            <a:r>
              <a:rPr lang="en-US" altLang="en-US" b="0">
                <a:latin typeface="Arial Regular" panose="020B0604020202090204" charset="0"/>
                <a:cs typeface="Arial Regular" panose="020B0604020202090204" charset="0"/>
                <a:sym typeface="+mn-ea"/>
              </a:rPr>
              <a:t>BUSINESS QUESTIONS</a:t>
            </a:r>
            <a:endParaRPr lang="en-US"/>
          </a:p>
        </p:txBody>
      </p:sp>
      <p:sp>
        <p:nvSpPr>
          <p:cNvPr id="5" name="Content Placeholder 4"/>
          <p:cNvSpPr>
            <a:spLocks noGrp="1"/>
          </p:cNvSpPr>
          <p:nvPr>
            <p:ph idx="1"/>
            <p:custDataLst>
              <p:tags r:id="rId2"/>
            </p:custDataLst>
          </p:nvPr>
        </p:nvSpPr>
        <p:spPr/>
        <p:txBody>
          <a:bodyPr>
            <a:normAutofit fontScale="80000"/>
          </a:bodyPr>
          <a:p>
            <a:pPr marL="0" indent="0">
              <a:buNone/>
            </a:pPr>
            <a:r>
              <a:rPr lang="en-US" altLang="en-US">
                <a:latin typeface="Arial Regular" panose="020B0604020202090204" charset="0"/>
                <a:cs typeface="Arial Regular" panose="020B0604020202090204" charset="0"/>
                <a:sym typeface="+mn-ea"/>
              </a:rPr>
              <a:t>Q. What is the average resolution time to close a customer complaint from the day it was received?</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is the average delay in closing complaints beyond expected targets?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number and percentage of complaints achieved a timely resolution?</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is the absolute count of complaints generated across different companies?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Which top 5 companies received the maximum number of customer complaints?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Which top 5 issues drive the highest volume of consumer complaints?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Which specific state yields the highest volume of customer complaints?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does the monthly trend of complaint volumes look like?</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is the Year-over-Year (YoY) percentage change in total complaints?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is the YoY change in average case resolution times?</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What percentage of cases resulted in a consumer dispute following resolution?</a:t>
            </a:r>
            <a:br>
              <a:rPr lang="en-US" altLang="en-US">
                <a:latin typeface="Arial Regular" panose="020B0604020202090204" charset="0"/>
                <a:cs typeface="Arial Regular" panose="020B0604020202090204" charset="0"/>
                <a:sym typeface="+mn-ea"/>
              </a:rPr>
            </a:br>
            <a:r>
              <a:rPr lang="en-US" altLang="en-US">
                <a:latin typeface="Arial Regular" panose="020B0604020202090204" charset="0"/>
                <a:cs typeface="Arial Regular" panose="020B0604020202090204" charset="0"/>
                <a:sym typeface="+mn-ea"/>
              </a:rPr>
              <a:t>Q. Given a limited resource bandwidth, which critical complaints must be taken care of on priority?</a:t>
            </a:r>
            <a:endParaRPr 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pPr algn="ctr"/>
            <a:r>
              <a:rPr lang="en-US" altLang="en-US" sz="3900" b="0">
                <a:latin typeface="Arial Regular" panose="020B0604020202090204" charset="0"/>
                <a:cs typeface="Arial Regular" panose="020B0604020202090204" charset="0"/>
              </a:rPr>
              <a:t>KEY FINDINGS</a:t>
            </a:r>
            <a:endParaRPr lang="en-US" altLang="en-US" sz="3900" b="0">
              <a:latin typeface="Arial Regular" panose="020B0604020202090204" charset="0"/>
              <a:cs typeface="Arial Regular" panose="020B0604020202090204" charset="0"/>
            </a:endParaRPr>
          </a:p>
        </p:txBody>
      </p:sp>
      <p:sp>
        <p:nvSpPr>
          <p:cNvPr id="5" name="Content Placeholder 4"/>
          <p:cNvSpPr>
            <a:spLocks noGrp="1"/>
          </p:cNvSpPr>
          <p:nvPr>
            <p:ph idx="1"/>
            <p:custDataLst>
              <p:tags r:id="rId2"/>
            </p:custDataLst>
          </p:nvPr>
        </p:nvSpPr>
        <p:spPr>
          <a:xfrm>
            <a:off x="694690" y="1374140"/>
            <a:ext cx="10800080" cy="4803775"/>
          </a:xfrm>
        </p:spPr>
        <p:txBody>
          <a:bodyPr>
            <a:noAutofit/>
          </a:bodyPr>
          <a:p>
            <a:r>
              <a:rPr lang="en-US" altLang="en-US" sz="1800">
                <a:latin typeface="Arial Regular" panose="020B0604020202090204" charset="0"/>
                <a:cs typeface="Arial Regular" panose="020B0604020202090204" charset="0"/>
              </a:rPr>
              <a:t>Excel and Power bi analysis provided insights into the following areas:</a:t>
            </a:r>
            <a:endParaRPr lang="en-US" altLang="en-US" sz="1800">
              <a:latin typeface="Arial Regular" panose="020B0604020202090204" charset="0"/>
              <a:cs typeface="Arial Regular" panose="020B0604020202090204" charset="0"/>
            </a:endParaRPr>
          </a:p>
          <a:p>
            <a:r>
              <a:rPr lang="en-US" altLang="en-US" sz="1800">
                <a:latin typeface="Arial Regular" panose="020B0604020202090204" charset="0"/>
                <a:cs typeface="Arial Regular" panose="020B0604020202090204" charset="0"/>
              </a:rPr>
              <a:t>98.39% of complaints received a timely response from companies, with an overall average resolution time of 2.01 days.</a:t>
            </a:r>
            <a:endParaRPr lang="en-US" altLang="en-US" sz="1800">
              <a:latin typeface="Arial Regular" panose="020B0604020202090204" charset="0"/>
              <a:cs typeface="Arial Regular" panose="020B0604020202090204" charset="0"/>
            </a:endParaRPr>
          </a:p>
          <a:p>
            <a:r>
              <a:rPr lang="en-US" altLang="en-US" sz="1800">
                <a:latin typeface="Arial Regular" panose="020B0604020202090204" charset="0"/>
                <a:cs typeface="Arial Regular" panose="020B0604020202090204" charset="0"/>
              </a:rPr>
              <a:t>22.41% of resolved complaints resulted in customer dispute.</a:t>
            </a:r>
            <a:endParaRPr lang="en-US" altLang="en-US" sz="1800">
              <a:latin typeface="Arial Regular" panose="020B0604020202090204" charset="0"/>
              <a:cs typeface="Arial Regular" panose="020B0604020202090204" charset="0"/>
            </a:endParaRPr>
          </a:p>
          <a:p>
            <a:r>
              <a:rPr lang="en-US" altLang="en-US" sz="1800">
                <a:latin typeface="Arial Regular" panose="020B0604020202090204" charset="0"/>
                <a:cs typeface="Arial Regular" panose="020B0604020202090204" charset="0"/>
              </a:rPr>
              <a:t>In products, mortgage is responsible for the largest share of complaints at 23.90%, followed by Debt Collection at 19.66% and Bank Accounts or services at 17.35%.</a:t>
            </a:r>
            <a:endParaRPr lang="en-US" altLang="en-US" sz="1800">
              <a:latin typeface="Arial Regular" panose="020B0604020202090204" charset="0"/>
              <a:cs typeface="Arial Regular" panose="020B0604020202090204" charset="0"/>
            </a:endParaRPr>
          </a:p>
          <a:p>
            <a:r>
              <a:rPr lang="en-US" altLang="en-US" sz="1800">
                <a:latin typeface="Arial Regular" panose="020B0604020202090204" charset="0"/>
                <a:cs typeface="Arial Regular" panose="020B0604020202090204" charset="0"/>
              </a:rPr>
              <a:t>Loan servicing, payments, escrow accounts, Account opening, closing, or management, Loan modification,collection,foreclosure, Communication tactics and Deposits and withdrawals are 5 most common issues.</a:t>
            </a:r>
            <a:endParaRPr lang="en-US" altLang="en-US" sz="1800">
              <a:latin typeface="Arial Regular" panose="020B0604020202090204" charset="0"/>
              <a:cs typeface="Arial Regular" panose="020B0604020202090204" charset="0"/>
            </a:endParaRPr>
          </a:p>
          <a:p>
            <a:r>
              <a:rPr lang="en-US" altLang="en-US" sz="1800">
                <a:latin typeface="Arial Regular" panose="020B0604020202090204" charset="0"/>
                <a:cs typeface="Arial Regular" panose="020B0604020202090204" charset="0"/>
              </a:rPr>
              <a:t>Bank of America received the highest volume of complaints (1066), followed by Wells Fargo &amp; Company (947) and JPMorgan Chase &amp; Co. (877).</a:t>
            </a:r>
            <a:endParaRPr lang="en-US" altLang="en-US" sz="1800">
              <a:latin typeface="Arial Regular" panose="020B0604020202090204" charset="0"/>
              <a:cs typeface="Arial Regular" panose="020B0604020202090204" charset="0"/>
            </a:endParaRPr>
          </a:p>
          <a:p>
            <a:r>
              <a:rPr lang="en-US" altLang="en-US" sz="1800">
                <a:latin typeface="Arial Regular" panose="020B0604020202090204" charset="0"/>
                <a:cs typeface="Arial Regular" panose="020B0604020202090204" charset="0"/>
              </a:rPr>
              <a:t></a:t>
            </a:r>
            <a:endParaRPr lang="en-US" altLang="en-US" sz="1800">
              <a:latin typeface="Arial Regular" panose="020B0604020202090204" charset="0"/>
              <a:cs typeface="Arial Regular" panose="020B06040202020902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pPr algn="ctr"/>
            <a:r>
              <a:rPr lang="en-US" altLang="en-US" sz="3900" b="0">
                <a:latin typeface="Arial Regular" panose="020B0604020202090204" charset="0"/>
                <a:cs typeface="Arial Regular" panose="020B0604020202090204" charset="0"/>
                <a:sym typeface="+mn-ea"/>
              </a:rPr>
              <a:t>KEY FINDINGS</a:t>
            </a:r>
            <a:endParaRPr lang="en-US" sz="3900"/>
          </a:p>
        </p:txBody>
      </p:sp>
      <p:sp>
        <p:nvSpPr>
          <p:cNvPr id="5" name="Content Placeholder 4"/>
          <p:cNvSpPr>
            <a:spLocks noGrp="1"/>
          </p:cNvSpPr>
          <p:nvPr>
            <p:ph idx="1"/>
            <p:custDataLst>
              <p:tags r:id="rId2"/>
            </p:custDataLst>
          </p:nvPr>
        </p:nvSpPr>
        <p:spPr/>
        <p:txBody>
          <a:bodyPr>
            <a:normAutofit fontScale="80000"/>
          </a:bodyPr>
          <a:p>
            <a:r>
              <a:rPr lang="en-US" altLang="en-US">
                <a:latin typeface="Arial Regular" panose="020B0604020202090204" charset="0"/>
                <a:cs typeface="Arial Regular" panose="020B0604020202090204" charset="0"/>
                <a:sym typeface="+mn-ea"/>
              </a:rPr>
              <a:t>The state which yields highest number of complaints is California with 1977 total logged complaints.</a:t>
            </a:r>
            <a:endParaRPr lang="en-US" altLang="en-US">
              <a:latin typeface="Arial Regular" panose="020B0604020202090204" charset="0"/>
              <a:cs typeface="Arial Regular" panose="020B0604020202090204" charset="0"/>
            </a:endParaRPr>
          </a:p>
          <a:p>
            <a:r>
              <a:rPr lang="en-US" altLang="en-US">
                <a:latin typeface="Arial Regular" panose="020B0604020202090204" charset="0"/>
                <a:cs typeface="Arial Regular" panose="020B0604020202090204" charset="0"/>
                <a:sym typeface="+mn-ea"/>
              </a:rPr>
              <a:t>Complaint volume increased rapidly from 2013 to 2014 by 39.02%. In 2015 percentage increased to 24.97% which is less as compared to the percentage increase in 2014. In 2015 the complaints were on peak with the total of 4373. In 2016 the percentage declined by -18.48%.</a:t>
            </a:r>
            <a:endParaRPr lang="en-US" altLang="en-US">
              <a:latin typeface="Arial Regular" panose="020B0604020202090204" charset="0"/>
              <a:cs typeface="Arial Regular" panose="020B0604020202090204" charset="0"/>
            </a:endParaRPr>
          </a:p>
          <a:p>
            <a:r>
              <a:rPr lang="en-US" altLang="en-US">
                <a:latin typeface="Arial Regular" panose="020B0604020202090204" charset="0"/>
                <a:cs typeface="Arial Regular" panose="020B0604020202090204" charset="0"/>
                <a:sym typeface="+mn-ea"/>
              </a:rPr>
              <a:t>Average resolution time improved each year, dropping from 2.62 days in 2013 to 1.60 days in 2016.</a:t>
            </a:r>
            <a:endParaRPr lang="en-US" altLang="en-US">
              <a:latin typeface="Arial Regular" panose="020B0604020202090204" charset="0"/>
              <a:cs typeface="Arial Regular" panose="020B0604020202090204" charset="0"/>
            </a:endParaRPr>
          </a:p>
          <a:p>
            <a:r>
              <a:rPr lang="en-US" altLang="en-US">
                <a:latin typeface="Arial Regular" panose="020B0604020202090204" charset="0"/>
                <a:cs typeface="Arial Regular" panose="020B0604020202090204" charset="0"/>
                <a:sym typeface="+mn-ea"/>
              </a:rPr>
              <a:t>Loan Servicing, Payments, Escrow Account, Account Opening, Closing, or Management, and Loan Modification, Collection, Foreclosure addresses approximately 31% of all total issues.</a:t>
            </a:r>
            <a:endParaRPr lang="en-US" altLang="en-US">
              <a:latin typeface="Arial Regular" panose="020B0604020202090204" charset="0"/>
              <a:cs typeface="Arial Regular" panose="020B0604020202090204" charset="0"/>
            </a:endParaRPr>
          </a:p>
          <a:p>
            <a:r>
              <a:rPr lang="en-US" altLang="en-US">
                <a:latin typeface="Arial Regular" panose="020B0604020202090204" charset="0"/>
                <a:cs typeface="Arial Regular" panose="020B0604020202090204" charset="0"/>
                <a:sym typeface="+mn-ea"/>
              </a:rPr>
              <a:t>157 complaint IDs are missing state names, possibly due to blank or incorrect state codes.</a:t>
            </a:r>
            <a:endParaRPr 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pPr algn="ctr"/>
            <a:r>
              <a:rPr lang="en-US" altLang="en-US"/>
              <a:t>BUSINESS INSIGHT</a:t>
            </a:r>
            <a:endParaRPr lang="en-US" altLang="en-US"/>
          </a:p>
        </p:txBody>
      </p:sp>
      <p:sp>
        <p:nvSpPr>
          <p:cNvPr id="5" name="Content Placeholder 4"/>
          <p:cNvSpPr>
            <a:spLocks noGrp="1"/>
          </p:cNvSpPr>
          <p:nvPr>
            <p:ph idx="1"/>
            <p:custDataLst>
              <p:tags r:id="rId2"/>
            </p:custDataLst>
          </p:nvPr>
        </p:nvSpPr>
        <p:spPr/>
        <p:txBody>
          <a:bodyPr>
            <a:noAutofit/>
          </a:bodyPr>
          <a:p>
            <a:r>
              <a:rPr lang="en-US" altLang="en-US" sz="1600" b="1">
                <a:latin typeface="Arial Bold" panose="020B0604020202090204" charset="0"/>
                <a:cs typeface="Arial Bold" panose="020B0604020202090204" charset="0"/>
              </a:rPr>
              <a:t>Prioritize High-Volume Issues:</a:t>
            </a:r>
            <a:r>
              <a:rPr lang="en-US" altLang="en-US" sz="1600">
                <a:latin typeface="Arial Regular" panose="020B0604020202090204" charset="0"/>
                <a:cs typeface="Arial Regular" panose="020B0604020202090204" charset="0"/>
              </a:rPr>
              <a:t> Given the limited bandwidth priority should be given to Loan Servicing, Payments, Escrow Account, Account Opening, Closing, or Management, and Loan Modification, Collection, Foreclosure, as these three categories address approximately 31% of all total issues.</a:t>
            </a:r>
            <a:endParaRPr lang="en-US" altLang="en-US" sz="1600">
              <a:latin typeface="Arial Regular" panose="020B0604020202090204" charset="0"/>
              <a:cs typeface="Arial Regular" panose="020B0604020202090204" charset="0"/>
            </a:endParaRPr>
          </a:p>
          <a:p>
            <a:r>
              <a:rPr lang="en-US" altLang="en-US" sz="1600" b="1">
                <a:latin typeface="Arial Bold" panose="020B0604020202090204" charset="0"/>
                <a:cs typeface="Arial Bold" panose="020B0604020202090204" charset="0"/>
              </a:rPr>
              <a:t>Quality over Speed:</a:t>
            </a:r>
            <a:r>
              <a:rPr lang="en-US" altLang="en-US" sz="1600">
                <a:latin typeface="Arial Regular" panose="020B0604020202090204" charset="0"/>
                <a:cs typeface="Arial Regular" panose="020B0604020202090204" charset="0"/>
              </a:rPr>
              <a:t> Speed make a difference but not without customer’s satisfaction. Over 22.41% of cases resulted in customer dispute even after resolution was provided. The Company should not just focus on closing the tickets but also work on enhancing the resolution quality.</a:t>
            </a:r>
            <a:endParaRPr lang="en-US" altLang="en-US" sz="1600">
              <a:latin typeface="Arial Regular" panose="020B0604020202090204" charset="0"/>
              <a:cs typeface="Arial Regular" panose="020B0604020202090204" charset="0"/>
            </a:endParaRPr>
          </a:p>
          <a:p>
            <a:r>
              <a:rPr lang="en-US" altLang="en-US" sz="1600" b="1">
                <a:latin typeface="Arial Bold" panose="020B0604020202090204" charset="0"/>
                <a:cs typeface="Arial Bold" panose="020B0604020202090204" charset="0"/>
              </a:rPr>
              <a:t>Target Top 5 Companies:</a:t>
            </a:r>
            <a:r>
              <a:rPr lang="en-US" altLang="en-US" sz="1600">
                <a:latin typeface="Arial Regular" panose="020B0604020202090204" charset="0"/>
                <a:cs typeface="Arial Regular" panose="020B0604020202090204" charset="0"/>
              </a:rPr>
              <a:t> These five major companies-Bank of America, Wells Fargo, JPMorgan Chase, Citibank, and Equifax are responsible for around 30% of all complaints. Allocating more operational resourced to these companies will fix recurring issues and will result in overall reduction in total volume.</a:t>
            </a:r>
            <a:endParaRPr lang="en-US" altLang="en-US" sz="1600">
              <a:latin typeface="Arial Regular" panose="020B0604020202090204" charset="0"/>
              <a:cs typeface="Arial Regular" panose="020B0604020202090204" charset="0"/>
            </a:endParaRPr>
          </a:p>
          <a:p>
            <a:r>
              <a:rPr lang="en-US" altLang="en-US" sz="1600" b="1">
                <a:latin typeface="Arial Bold" panose="020B0604020202090204" charset="0"/>
                <a:cs typeface="Arial Bold" panose="020B0604020202090204" charset="0"/>
              </a:rPr>
              <a:t>Focus on State with Highest Complaints :</a:t>
            </a:r>
            <a:r>
              <a:rPr lang="en-US" altLang="en-US" sz="1600">
                <a:latin typeface="Arial Regular" panose="020B0604020202090204" charset="0"/>
                <a:cs typeface="Arial Regular" panose="020B0604020202090204" charset="0"/>
              </a:rPr>
              <a:t> California has the highest number of complaints. Increasing customer support and resources in California can help address customer issues more effectively.</a:t>
            </a:r>
            <a:endParaRPr lang="en-US" altLang="en-US" sz="1600">
              <a:latin typeface="Arial Regular" panose="020B0604020202090204" charset="0"/>
              <a:cs typeface="Arial Regular" panose="020B0604020202090204" charset="0"/>
            </a:endParaRPr>
          </a:p>
          <a:p>
            <a:r>
              <a:rPr lang="en-US" altLang="en-US" sz="1600" b="1">
                <a:latin typeface="Arial Bold" panose="020B0604020202090204" charset="0"/>
                <a:cs typeface="Arial Bold" panose="020B0604020202090204" charset="0"/>
              </a:rPr>
              <a:t>Focus on Key Products:</a:t>
            </a:r>
            <a:r>
              <a:rPr lang="en-US" altLang="en-US" sz="1600">
                <a:latin typeface="Arial Regular" panose="020B0604020202090204" charset="0"/>
                <a:cs typeface="Arial Regular" panose="020B0604020202090204" charset="0"/>
              </a:rPr>
              <a:t> Mortgage, debt collection and bank account or service contribute to the largest share of complaints. Focusing on improving these services and resolving issues quickly can help reduce overall customer dissatisfaction.</a:t>
            </a:r>
            <a:endParaRPr lang="en-US" altLang="en-US" sz="1600">
              <a:latin typeface="Arial Regular" panose="020B0604020202090204" charset="0"/>
              <a:cs typeface="Arial Regular" panose="020B0604020202090204" charset="0"/>
            </a:endParaRPr>
          </a:p>
          <a:p>
            <a:endParaRPr lang="en-US" altLang="en-US" sz="1600">
              <a:latin typeface="Arial Regular" panose="020B0604020202090204" charset="0"/>
              <a:cs typeface="Arial Regular" panose="020B0604020202090204" charset="0"/>
            </a:endParaRPr>
          </a:p>
          <a:p>
            <a:r>
              <a:rPr lang="en-US" altLang="en-US" sz="1600">
                <a:latin typeface="Arial Regular" panose="020B0604020202090204" charset="0"/>
                <a:cs typeface="Arial Regular" panose="020B0604020202090204" charset="0"/>
              </a:rPr>
              <a:t>Track and Investigate Complaint Trends: The company should investigate the reasons behind the increase in complaints in 2014 and 2015 and understand what led to the significant drop in 2016 to maintain this improvement.</a:t>
            </a:r>
            <a:endParaRPr lang="en-US" altLang="en-US" sz="1600">
              <a:latin typeface="Arial Regular" panose="020B0604020202090204" charset="0"/>
              <a:cs typeface="Arial Regular" panose="020B06040202020902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normAutofit fontScale="90000"/>
          </a:bodyPr>
          <a:p>
            <a:r>
              <a:rPr lang="en-US" altLang="en-US" sz="2220" b="0">
                <a:latin typeface="Arial Regular" panose="020B0604020202090204" charset="0"/>
                <a:cs typeface="Arial Regular" panose="020B0604020202090204" charset="0"/>
              </a:rPr>
              <a:t>Consumer complaint analysis provided a clear view of complaint volumes, resolution times and delays, customer disputes, and key areas requiring attention. Although 98.39% of complaints were resolved on time and average resolution time improved from 2.62 days in 2013 to 1.60 days in 2016, 22.41% dispute rate shows that timely resolution does not always ensure customer satisfaction. The analysis also identified high-volume companies, products, issues, and state. These findings can help the business prioritize high-volume complaint areas, allocate resources effectively, improve resolution quality, and monitor complaint trends to reduce future complaints and customer disputes to enhance customer satisfaction.</a:t>
            </a:r>
            <a:endParaRPr lang="en-US" altLang="en-US" sz="2220" b="0">
              <a:latin typeface="Arial Regular" panose="020B0604020202090204" charset="0"/>
              <a:cs typeface="Arial Regular" panose="020B0604020202090204" charset="0"/>
            </a:endParaRPr>
          </a:p>
        </p:txBody>
      </p:sp>
      <p:sp>
        <p:nvSpPr>
          <p:cNvPr id="5" name="Text Placeholder 4"/>
          <p:cNvSpPr>
            <a:spLocks noGrp="1"/>
          </p:cNvSpPr>
          <p:nvPr>
            <p:ph type="body" sz="quarter" idx="13"/>
            <p:custDataLst>
              <p:tags r:id="rId2"/>
            </p:custDataLst>
          </p:nvPr>
        </p:nvSpPr>
        <p:spPr/>
        <p:txBody>
          <a:bodyPr/>
          <a:p>
            <a:pPr algn="ctr"/>
            <a:r>
              <a:rPr lang="en-US" altLang="en-US" sz="3900" b="0">
                <a:latin typeface="Arial Regular" panose="020B0604020202090204" charset="0"/>
                <a:cs typeface="Arial Regular" panose="020B0604020202090204" charset="0"/>
              </a:rPr>
              <a:t>CONCLUSION</a:t>
            </a:r>
            <a:endParaRPr lang="en-US" altLang="en-US" sz="3900" b="0">
              <a:latin typeface="Arial Regular" panose="020B0604020202090204" charset="0"/>
              <a:cs typeface="Arial Regular" panose="020B0604020202090204" charset="0"/>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ctrTitle"/>
            <p:custDataLst>
              <p:tags r:id="rId1"/>
            </p:custDataLst>
          </p:nvPr>
        </p:nvSpPr>
        <p:spPr/>
        <p:txBody>
          <a:bodyPr/>
          <a:lstStyle/>
          <a:p>
            <a:r>
              <a:rPr lang="en-US">
                <a:ea typeface="+mj-ea"/>
              </a:rPr>
              <a:t>THANK YOU</a:t>
            </a:r>
            <a:endParaRPr lang="en-US">
              <a:ea typeface="+mj-ea"/>
            </a:endParaRPr>
          </a:p>
        </p:txBody>
      </p:sp>
      <p:sp>
        <p:nvSpPr>
          <p:cNvPr id="10" name="署名"/>
          <p:cNvSpPr>
            <a:spLocks noGrp="1"/>
          </p:cNvSpPr>
          <p:nvPr>
            <p:ph type="body" sz="quarter" idx="17"/>
            <p:custDataLst>
              <p:tags r:id="rId2"/>
            </p:custDataLst>
          </p:nvPr>
        </p:nvSpPr>
        <p:spPr/>
        <p:txBody>
          <a:bodyPr/>
          <a:lstStyle/>
          <a:p>
            <a:r>
              <a:rPr lang="en-US">
                <a:ea typeface="+mn-ea"/>
              </a:rPr>
              <a:t>Name</a:t>
            </a:r>
            <a:endParaRPr lang="en-US">
              <a:ea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1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20.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25.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6.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38.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5.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6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6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7.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77"/>
</p:tagLst>
</file>

<file path=ppt/tags/tag71.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77"/>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77"/>
</p:tagLst>
</file>

<file path=ppt/tags/tag76.xml><?xml version="1.0" encoding="utf-8"?>
<p:tagLst xmlns:p="http://schemas.openxmlformats.org/presentationml/2006/main">
  <p:tag name="KSO_WM_UNIT_ISCONTENTSTITLE" val="0"/>
  <p:tag name="KSO_WM_UNIT_ISNUMDGMTITLE" val="0"/>
  <p:tag name="KSO_WM_UNIT_PRESET_TEXT" val="The title goes here"/>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477_1*a*1"/>
  <p:tag name="KSO_WM_TEMPLATE_CATEGORY" val="custom"/>
  <p:tag name="KSO_WM_TEMPLATE_INDEX" val="20233477"/>
  <p:tag name="KSO_WM_UNIT_LAYERLEVEL" val="1"/>
  <p:tag name="KSO_WM_TAG_VERSION" val="3.0"/>
  <p:tag name="KSO_WM_BEAUTIFY_FLAG" val="#wm#"/>
</p:tagLst>
</file>

<file path=ppt/tags/tag77.xml><?xml version="1.0" encoding="utf-8"?>
<p:tagLst xmlns:p="http://schemas.openxmlformats.org/presentationml/2006/main">
  <p:tag name="KSO_WM_UNIT_SUBTYPE" val="b"/>
  <p:tag name="KSO_WM_UNIT_PRESET_TEXT" val="Name"/>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3477_1*f*4"/>
  <p:tag name="KSO_WM_TEMPLATE_CATEGORY" val="custom"/>
  <p:tag name="KSO_WM_TEMPLATE_INDEX" val="20233477"/>
  <p:tag name="KSO_WM_UNIT_LAYERLEVEL" val="1"/>
  <p:tag name="KSO_WM_TAG_VERSION" val="3.0"/>
  <p:tag name="KSO_WM_BEAUTIFY_FLAG" val="#wm#"/>
</p:tagLst>
</file>

<file path=ppt/tags/tag78.xml><?xml version="1.0" encoding="utf-8"?>
<p:tagLst xmlns:p="http://schemas.openxmlformats.org/presentationml/2006/main">
  <p:tag name="KSO_WM_SPECIAL_SOURCE" val="bdnull"/>
  <p:tag name="KSO_WM_TEMPLATE_THUMBS_INDEX" val="1、9"/>
  <p:tag name="KSO_WM_SLIDE_ID" val="custom2023347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77"/>
  <p:tag name="KSO_WM_SLIDE_LAYOUT" val="a_f"/>
  <p:tag name="KSO_WM_SLIDE_LAYOUT_CNT" val="1_1"/>
  <p:tag name="KSO_WM_SLIDE_THEME_ID" val="3321190"/>
  <p:tag name="KSO_WM_SLIDE_THEME_NAME" val="Yellow Line Minimalist"/>
</p:tagLst>
</file>

<file path=ppt/tags/tag7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80.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33477"/>
</p:tagLst>
</file>

<file path=ppt/tags/tag82.xml><?xml version="1.0" encoding="utf-8"?>
<p:tagLst xmlns:p="http://schemas.openxmlformats.org/presentationml/2006/main">
  <p:tag name="KSO_WM_UNIT_ISCONTENTSTITLE" val="0"/>
  <p:tag name="KSO_WM_UNIT_ISNUMDGMTITLE" val="0"/>
  <p:tag name="KSO_WM_UNIT_PRESET_TEXT" val="Your title here"/>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3477_7*a*1"/>
  <p:tag name="KSO_WM_TEMPLATE_CATEGORY" val="custom"/>
  <p:tag name="KSO_WM_TEMPLATE_INDEX" val="20233477"/>
  <p:tag name="KSO_WM_UNIT_LAYERLEVEL" val="1"/>
  <p:tag name="KSO_WM_TAG_VERSION" val="3.0"/>
  <p:tag name="KSO_WM_BEAUTIFY_FLAG" val="#wm#"/>
</p:tagLst>
</file>

<file path=ppt/tags/tag83.xml><?xml version="1.0" encoding="utf-8"?>
<p:tagLst xmlns:p="http://schemas.openxmlformats.org/presentationml/2006/main">
  <p:tag name="KSO_WM_UNIT_PRESET_TEXT" val="01"/>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custom20233477_7*e*1"/>
  <p:tag name="KSO_WM_TEMPLATE_CATEGORY" val="custom"/>
  <p:tag name="KSO_WM_TEMPLATE_INDEX" val="20233477"/>
  <p:tag name="KSO_WM_UNIT_LAYERLEVEL" val="1"/>
  <p:tag name="KSO_WM_TAG_VERSION" val="3.0"/>
  <p:tag name="KSO_WM_BEAUTIFY_FLAG" val="#wm#"/>
</p:tagLst>
</file>

<file path=ppt/tags/tag84.xml><?xml version="1.0" encoding="utf-8"?>
<p:tagLst xmlns:p="http://schemas.openxmlformats.org/presentationml/2006/main">
  <p:tag name="KSO_WM_SPECIAL_SOURCE" val="bdnull"/>
  <p:tag name="KSO_WM_SLIDE_ID" val="custom20233477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3477"/>
  <p:tag name="KSO_WM_SLIDE_LAYOUT" val="a_e"/>
  <p:tag name="KSO_WM_SLIDE_LAYOUT_CNT" val="1_1"/>
  <p:tag name="KSO_WM_SLIDE_THEME_ID" val="3321190"/>
  <p:tag name="KSO_WM_SLIDE_THEME_NAME" val="Yellow Line Minimalist"/>
</p:tagLst>
</file>

<file path=ppt/tags/tag85.xml><?xml version="1.0" encoding="utf-8"?>
<p:tagLst xmlns:p="http://schemas.openxmlformats.org/presentationml/2006/main">
  <p:tag name="KSO_WM_UNIT_ISCONTENTSTITLE" val="1"/>
  <p:tag name="KSO_WM_UNIT_ISNUMDGMTITLE" val="0"/>
  <p:tag name="KSO_WM_UNIT_PRESET_TEXT" val="Contents "/>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477_4*a*1"/>
  <p:tag name="KSO_WM_TEMPLATE_CATEGORY" val="custom"/>
  <p:tag name="KSO_WM_TEMPLATE_INDEX" val="20233477"/>
  <p:tag name="KSO_WM_UNIT_LAYERLEVEL" val="1"/>
  <p:tag name="KSO_WM_TAG_VERSION" val="3.0"/>
  <p:tag name="KSO_WM_BEAUTIFY_FLAG" val="#wm#"/>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33477_4*h_i*1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33477_4*h_f*1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33477_4*h_i*4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33477_4*h_f*4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33477_4*h_i*2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33477_4*h_f*2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33477_4*h_i*3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33477_4*h_f*3_1"/>
  <p:tag name="KSO_WM_TEMPLATE_CATEGORY" val="custom"/>
  <p:tag name="KSO_WM_TEMPLATE_INDEX" val="20233477"/>
  <p:tag name="KSO_WM_UNIT_LAYERLEVEL" val="1_1_1"/>
  <p:tag name="KSO_WM_TAG_VERSION" val="3.0"/>
  <p:tag name="KSO_WM_BEAUTIFY_FLAG" val="#wm#"/>
  <p:tag name="KSO_WM_DIAGRAM_MAX_ITEMCNT" val="6"/>
  <p:tag name="KSO_WM_DIAGRAM_MIN_ITEMCNT" val="2"/>
  <p:tag name="KSO_WM_DIAGRAM_VIRTUALLY_FRAME" val="{&quot;height&quot;:463.71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33477_4*h_i*4_1"/>
  <p:tag name="KSO_WM_TEMPLATE_CATEGORY" val="custom"/>
  <p:tag name="KSO_WM_TEMPLATE_INDEX" val="20233477"/>
  <p:tag name="KSO_WM_UNIT_LAYERLEVEL" val="1_1_1"/>
  <p:tag name="KSO_WM_TAG_VERSION" val="3.0"/>
  <p:tag name="KSO_WM_DIAGRAM_MAX_ITEMCNT" val="6"/>
  <p:tag name="KSO_WM_DIAGRAM_MIN_ITEMCNT" val="2"/>
  <p:tag name="KSO_WM_DIAGRAM_VIRTUALLY_FRAME" val="{&quot;height&quot;:418.96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33477_4*h_f*4_1"/>
  <p:tag name="KSO_WM_TEMPLATE_CATEGORY" val="custom"/>
  <p:tag name="KSO_WM_TEMPLATE_INDEX" val="20233477"/>
  <p:tag name="KSO_WM_UNIT_LAYERLEVEL" val="1_1_1"/>
  <p:tag name="KSO_WM_TAG_VERSION" val="3.0"/>
  <p:tag name="KSO_WM_DIAGRAM_MAX_ITEMCNT" val="6"/>
  <p:tag name="KSO_WM_DIAGRAM_MIN_ITEMCNT" val="2"/>
  <p:tag name="KSO_WM_DIAGRAM_VIRTUALLY_FRAME" val="{&quot;height&quot;:418.9612609863281,&quot;left&quot;:128.03535433070866,&quot;top&quot;:37.43433013675722,&quot;width&quot;:402.71464566929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6.xml><?xml version="1.0" encoding="utf-8"?>
<p:tagLst xmlns:p="http://schemas.openxmlformats.org/presentationml/2006/main">
  <p:tag name="KSO_WM_SLIDE_ID" val="custom20233477_4"/>
  <p:tag name="KSO_WM_TEMPLATE_SUBCATEGORY" val="0"/>
  <p:tag name="KSO_WM_TEMPLATE_MASTER_TYPE" val="0"/>
  <p:tag name="KSO_WM_TEMPLATE_COLOR_TYPE" val="0"/>
  <p:tag name="KSO_WM_SLIDE_TYPE" val="contents"/>
  <p:tag name="KSO_WM_SLIDE_SUBTYPE" val="diag"/>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3477"/>
  <p:tag name="KSO_WM_SLIDE_LAYOUT" val="a_l"/>
  <p:tag name="KSO_WM_SLIDE_LAYOUT_CNT" val="1_1"/>
  <p:tag name="KSO_WM_SLIDE_THEME_ID" val="3321190"/>
  <p:tag name="KSO_WM_SLIDE_THEME_NAME" val="Yellow Line Minimalist"/>
</p:tagLst>
</file>

<file path=ppt/tags/tag9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33477"/>
</p:tagLst>
</file>

<file path=ppt/tags/tag10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33477"/>
</p:tagLst>
</file>

<file path=ppt/tags/tag10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33477"/>
</p:tagLst>
</file>

<file path=ppt/tags/tag10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33477"/>
</p:tagLst>
</file>

<file path=ppt/tags/tag10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33477"/>
</p:tagLst>
</file>

<file path=ppt/tags/tag11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13.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33477"/>
</p:tagLst>
</file>

<file path=ppt/tags/tag115.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3477_9*a*1"/>
  <p:tag name="KSO_WM_TEMPLATE_CATEGORY" val="custom"/>
  <p:tag name="KSO_WM_TEMPLATE_INDEX" val="20233477"/>
  <p:tag name="KSO_WM_UNIT_LAYERLEVEL" val="1"/>
  <p:tag name="KSO_WM_TAG_VERSION" val="3.0"/>
  <p:tag name="KSO_WM_BEAUTIFY_FLAG" val="#wm#"/>
  <p:tag name="KSO_WM_UNIT_PRESET_TEXT" val="THANK YOU"/>
</p:tagLst>
</file>

<file path=ppt/tags/tag116.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3477_9*f*4"/>
  <p:tag name="KSO_WM_TEMPLATE_CATEGORY" val="custom"/>
  <p:tag name="KSO_WM_TEMPLATE_INDEX" val="20233477"/>
  <p:tag name="KSO_WM_UNIT_LAYERLEVEL" val="1"/>
  <p:tag name="KSO_WM_TAG_VERSION" val="3.0"/>
  <p:tag name="KSO_WM_BEAUTIFY_FLAG" val="#wm#"/>
  <p:tag name="KSO_WM_UNIT_PRESET_TEXT" val="Name"/>
</p:tagLst>
</file>

<file path=ppt/tags/tag117.xml><?xml version="1.0" encoding="utf-8"?>
<p:tagLst xmlns:p="http://schemas.openxmlformats.org/presentationml/2006/main">
  <p:tag name="KSO_WM_SPECIAL_SOURCE" val="bdnull"/>
  <p:tag name="KSO_WM_SLIDE_ID" val="custom20233477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3477"/>
  <p:tag name="KSO_WM_SLIDE_LAYOUT" val="a_f"/>
  <p:tag name="KSO_WM_SLIDE_LAYOUT_CNT" val="1_1"/>
  <p:tag name="KSO_WM_SLIDE_THEME_ID" val="3321190"/>
  <p:tag name="KSO_WM_SLIDE_THEME_NAME" val="Yellow Line Minimalist"/>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7761</Words>
  <Application>WPS Sheets</Application>
  <PresentationFormat>Widescreen</PresentationFormat>
  <Paragraphs>90</Paragraphs>
  <Slides>11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vt:i4>
      </vt:variant>
    </vt:vector>
  </HeadingPairs>
  <TitlesOfParts>
    <vt:vector size="29" baseType="lpstr">
      <vt:lpstr>Arial</vt:lpstr>
      <vt:lpstr>SimSun</vt:lpstr>
      <vt:lpstr>Wingdings</vt:lpstr>
      <vt:lpstr>Wingdings</vt:lpstr>
      <vt:lpstr>Helvetica Neue</vt:lpstr>
      <vt:lpstr>Microsoft YaHei</vt:lpstr>
      <vt:lpstr>汉仪旗黑</vt:lpstr>
      <vt:lpstr>Arial Unicode MS</vt:lpstr>
      <vt:lpstr>Calibri</vt:lpstr>
      <vt:lpstr>Lato</vt:lpstr>
      <vt:lpstr>Manrope ExtraBold</vt:lpstr>
      <vt:lpstr>宋体-简</vt:lpstr>
      <vt:lpstr>Helvetica Neue Regular</vt:lpstr>
      <vt:lpstr>Arial Regular</vt:lpstr>
      <vt:lpstr>SimSun</vt:lpstr>
      <vt:lpstr>Arial Bold</vt:lpstr>
      <vt:lpstr>Arial Italic</vt:lpstr>
      <vt:lpstr>1_Office Theme</vt:lpstr>
      <vt:lpstr>The title goes here</vt:lpstr>
      <vt:lpstr>PowerPoint 演示文稿</vt:lpstr>
      <vt:lpstr>Your title here</vt:lpstr>
      <vt:lpstr>Contents </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COMPLAINT ANALYSIS</dc:title>
  <dc:creator>nehagupta</dc:creator>
  <cp:lastModifiedBy>Neha Gupta</cp:lastModifiedBy>
  <cp:revision>3</cp:revision>
  <dcterms:created xsi:type="dcterms:W3CDTF">2026-09-13T14:22:41Z</dcterms:created>
  <dcterms:modified xsi:type="dcterms:W3CDTF">2026-09-13T14:22:41Z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8AC27EEE39A536B4B0B1A66A7258E536_43</vt:lpwstr>
  </property>
</Properties>
</file>